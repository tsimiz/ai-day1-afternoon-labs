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66" r:id="rId2"/>
    <p:sldId id="267" r:id="rId3"/>
    <p:sldId id="268" r:id="rId4"/>
    <p:sldId id="34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ED8BCE-CE67-4EE7-A76B-DCB792034A5E}" v="1" dt="2026-06-15T05:22:42.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o Silfver" userId="3ec7c2a4b672b1e5" providerId="LiveId" clId="{003D47C9-5CE2-44F0-88A5-2FE950DF88F5}"/>
    <pc:docChg chg="undo custSel addSld modSld sldOrd">
      <pc:chgData name="Tino Silfver" userId="3ec7c2a4b672b1e5" providerId="LiveId" clId="{003D47C9-5CE2-44F0-88A5-2FE950DF88F5}" dt="2026-06-15T05:25:29.233" v="8" actId="1076"/>
      <pc:docMkLst>
        <pc:docMk/>
      </pc:docMkLst>
      <pc:sldChg chg="addSp delSp modSp mod">
        <pc:chgData name="Tino Silfver" userId="3ec7c2a4b672b1e5" providerId="LiveId" clId="{003D47C9-5CE2-44F0-88A5-2FE950DF88F5}" dt="2026-06-15T05:25:29.233" v="8" actId="1076"/>
        <pc:sldMkLst>
          <pc:docMk/>
          <pc:sldMk cId="0" sldId="269"/>
        </pc:sldMkLst>
        <pc:spChg chg="add del">
          <ac:chgData name="Tino Silfver" userId="3ec7c2a4b672b1e5" providerId="LiveId" clId="{003D47C9-5CE2-44F0-88A5-2FE950DF88F5}" dt="2026-06-15T05:25:20.727" v="5" actId="22"/>
          <ac:spMkLst>
            <pc:docMk/>
            <pc:sldMk cId="0" sldId="269"/>
            <ac:spMk id="7" creationId="{0415153A-0238-4508-6077-D1E2F70D8A6A}"/>
          </ac:spMkLst>
        </pc:spChg>
        <pc:picChg chg="add mod">
          <ac:chgData name="Tino Silfver" userId="3ec7c2a4b672b1e5" providerId="LiveId" clId="{003D47C9-5CE2-44F0-88A5-2FE950DF88F5}" dt="2026-06-15T05:25:29.233" v="8" actId="1076"/>
          <ac:picMkLst>
            <pc:docMk/>
            <pc:sldMk cId="0" sldId="269"/>
            <ac:picMk id="9" creationId="{2102E8B7-E3D5-F0F3-FDED-74E089872016}"/>
          </ac:picMkLst>
        </pc:picChg>
      </pc:sldChg>
      <pc:sldChg chg="add ord setBg">
        <pc:chgData name="Tino Silfver" userId="3ec7c2a4b672b1e5" providerId="LiveId" clId="{003D47C9-5CE2-44F0-88A5-2FE950DF88F5}" dt="2026-06-15T05:23:06.105" v="2"/>
        <pc:sldMkLst>
          <pc:docMk/>
          <pc:sldMk cId="0" sldId="3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12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Frame the day as practical and hands-on: today is not about AI hype or theory, it is about using Copilot and agents safely, practically, and with good judgment. Set expectations: the morning is concepts and demos, the afternoon is hands-on practice, and Day 2 moves closer to software development, GitHub Copilot and spec-driven development. Say: today is about using AI well; tomorrow is about building with AI responsibly. Optional humor: the goal is not to replace people with robots, it is to avoid becoming people who manually create three new meetings and a spreadsheet every time something changes.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two-day story. Day 1 is practical Copilot and agent usage that benefits everyone in the room, regardless of role. Day 2 moves into technical delivery and shows how AI changes the software development lifecycle. Make the connection explicit: AI is useful only when goals, sources, constraints and validation are clear, and that applies to business users and developers alike, so everyone has a role on Day 2 too. Transition: before we start teaching, let us see where the room is today.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to a glance; the detail is in the calendar pre-read and the README. Two points carry the slide. The one thing that blocks this afternoon is the licence: if someone is unsure which Copilot they have, that is the Chat versus M365 slide, and we sort it before lunch. The one thing that blocks Day 2 is the first dependency download: with 71 people, dozens of fresh clones building at once on venue WiFi will queue, so everyone runs the build once on their own network before Tuesday. Day 1 is the moment to say this because the whole mandatory room is here today. The same visual template returns on Day 2 as a quick readiness check.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a quick poll by hand, Teams chat, or Mentimeter if available. Ask who uses Copilot daily, who weekly, who has tested it but not built a habit, who is skeptical, and what would make today useful. Capture three to five expectations visibly and tell them you will revisit these at the end-of-day workshop, because you will, and they feed Day 2. Keep it short: the goal is not a long discussion, it is to tune examples and make people feel seen. Optional humor: there is no shame in saying I tried it once and it wrote something that sounded like a polite consultant escaping responsibility. That is exactly why we are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 clarifies what M365 Copilot actually is, how grounding works, why permissions matter more in an AI world, and one prompt pattern people can actually remember. Keep the energy practical; the payoff is the live demo block at the end of the module.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Copilot in plain language: it works across Word, Excel, PowerPoint, Outlook, Teams and Copilot Chat, depending on licence, permissions and enabled features. Emphasize that it can accelerate work but does not remove ownership: the human still validates, edits and decides. Plant the phrase your content, your tenant, because it sets up grounding and permissions. Say: the first answer is a draft, not a verdict. Optional humor: the product is called Copilot, not please take the wheel while I go for coffee pilot. Transition: people say Copilot but mean different experiences.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most common Day 1 derailer, so spend time here. Different Copilot experiences have different grounding, which changes what you should expect. If Copilot cannot access a meeting, file, email or chat, it cannot reliably reason over it, and local file upload is a good training approach because it makes the source material visible and controlled. These participants have the Enterprise add-on, so show them how to tell which experience they are in. Say: always ask, what context does this Copilot have? Optional humor: asking the wrong Copilot what happened in your meeting is like asking a random person at the airport what your project team decided last Tuesday. Transition: that brings us to grounding.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grounding as giving AI relevant context. In M365 this may involve Microsoft Graph and the work content the user can access; in this training we make grounding explicit by uploading synthetic files. Make the point that two people can get different answers to the same question because they have different access, so grounding is personal. Bridge to permissions: personal grounding is exactly why permissions matter next. Optional humor: AI is powerful, but it still suffers when the source material is called Final_v7_REALLY_FINAL_use_this_one_maybe.docx. Transition: if grounding depends on access, we need to talk about permissions.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governance heart of Module 1. Copilot does not create new permission access, but it may reveal information that was already accessible yet previously hard to find. A concrete example: a too-broadly-shared SharePoint file surfacing in a colleague's Copilot answer. Nothing leaked; it was already visible, Copilot just made it findable. That is why oversharing, weak ownership and outdated documents become more impactful when AI can retrieve and summarize quickly. Say: Copilot is not sneaking into locked cabinets, it is very good at finding the cabinet someone accidentally left in the cafeteria. Transition: now let us talk about how to ask for useful work.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 one pattern only; do not overload people with prompt-engineering jargon. Goal is the output you want, Context is who it is for and why, Source is the uploaded file or transcript or policy excerpt, Format is table or summary or email or checklist, and Verification asks for source notes, confidence, or missing information. Stress iterate, do not restart: the first answer is a draft. Say: prompting is not magic poetry, it is briefing a smart colleague who is new to the project. Transition: let us apply this to realistic work outputs.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Jukka driving. Tell participants to watch the method, not the exact text; the afternoon labs reuse this scenario with different tasks. Recurring scenario: the fictional Service Excellence Pilot. Run three short demos from this one slide. Say: the value is not only summarization, it is turning messy work into something someone can act 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Fifteen-minute break. Before the break, say: after the break we move from Copilot as an assistant to agents with a defined job, defined knowledge and defined boundaries.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2 moves from Copilot as an assistant to agents with a defined job, defined knowledge and defined boundaries, then sets the responsible-use habits that make all of this safe. The module ends with the agent demo block, so keep the pace moving toward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an agent is not just a chat window, it has a job: designed for a specific purpose, grounded in specific knowledge, and tested against expected and unexpected questions. The value comes from scoping, not from magic. Say: the worst agent design is please be our entire organization, but in chat form. Transition: in the Microsoft world, one place we create these is Copilot Studio.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at awareness level; do not get pulled into every Copilot Studio feature. Today's demo uses the new agent experience: name, instructions, knowledge, a skill file and testing. We are not teaching advanced actions, publishing, channels or governance administration today. Topcon-relevant uses are an internal FAQ agent or a process guide that answers from the company's own documents. Transition: as agents become more capable, responsible design becomes more important.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progression: AI that assists, AI that acts when asked, and AI that operates persistently. Today the focus is the design pattern, not fully autonomous agents. The more an AI system can do independently, the more important boundaries, testing, ownership, auditability and escalation become. For context, Copilot Cowork is built on Anthropic technology inside the M365 boundary, and Scout is preview via the Frontier programme; this is positioning, not a how-to. Optional humor: the more the assistant can do while you are away, the more you want to make sure it does not return proudly holding a flamethrower and a spreadsheet.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practical: AI etiquette is about trust between colleagues, customers and teams. Useful examples to raise: is it okay to use an AI notetaker in this meeting, should a customer-facing message be human-reviewed, are we allowed to upload this document, and who owns the final answer. Land the distinction that recurs on Day 2: ownership is the absolute (you own customer-facing communication regardless of how it was drafted) while disclosure is contextual (disclose where someone's trust depends on it, not as a reflexive stamp). Say: AI can help write the email, it should not be the only adult in the room before the email goes to the customer. Transition: the most important quality habit is verification.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hallucinations in plain language: the AI may produce something plausible but unsupported. The most dangerous answer is not obviously bad, it is polished and wrong, because a messy answer triggers caution while a polished one can lower our defenses. The verification habits are simple: ask for evidence, ask what is missing, check the source, and use human judgment. The controlled not specified case in the agent demo block shows this live. Transition: let us also name some common anti-patterns.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this practical and non-accusatory: everyone makes some of these at first, and the point is to build better habits. These are the foundational anti-patterns; Day 2 covers the technical ones (hallucinated APIs, unreviewed generated code, massive AI-generated pull requests). Say: Copilot said so is not a design argument, it is the new version of I found it on the internet. Transition: these habits matter everywhere, but especially in healthcare.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at the general level we agreed: daily habits with patient-adjacent data, and the difference between a managed environment and consumer tools. Frame the boundary that recurs on Day 2: the systems manage devices, never patients. The training scenario is synthetic but the habits are real, and do not overstate the demo agent: it is not a medical, legal, warranty or compliance authority, it is a process-guide demo. Say: in healthcare-adjacent work, creative interpretation is not a feature. Transition: now we will see these ideas in an agent demo.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participants this is not a full Copilot Studio course, it is a design and quality demo, and Demo 2.1 seeds Track B's afternoon lab. Run four short demos from this one slide. Say: we let the agent make a few mistakes in public, which is much cheaper than discovering them after launch.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people should choose the track where they will learn most: Track A is best for practical Copilot usage, Track B is best for people who will build, configure or evaluate agents. Both tracks use the same Service Excellence Pilot scenario and files. Tell them what to have open over lunch so the afternoon starts fast. Lunch is 12:00 to 13:00. Say: choose the track where you will learn most, not the track where your colleague can watch you suffer from across the room.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afternoon runs Track A and Track B in parallel in the same room and Teams, so every lab slide shows both tracks side by side and you can keep both groups moving at once. After two lab rounds, the room comes back together for a mixed-group workshop that feeds Day 2.</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Reset the room after lunch. The same scenario and files are used, but the tasks are different: the demos showed the pattern, the labs require role choice, output choice, verification and judgment. Explain the follow-along rhythm: both tracks run at the same time, the slides show A and B together, and two trainers circulate. With 71 people, the rule is raise a hand, not a struggle, and pairs and patience help. Say: you saw the move, now you will use the move in a slightly different situation.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people clearly where to go, what to open and what outcome is expected. Track A opens Copilot and the synthetic content pack; Track B opens Copilot Studio and the synthetic content pack. Both tracks return for the workshop at 15:30. Remind everyone not to upload real sensitive data. From here every lab slide carries both tracks, so you can prompt A and B in the same breath and neither group goes idle.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tracks run in parallel from this one slide. Track A is not repeating the demo: each learner chooses an audience (senior stakeholder, service operations manager, quality reviewer, documentation owner) and an artifact (steering report, risk brief, action dashboard, update email). Track B is not building the demo again: the purpose is quality testing through the loop build, test, break, patch, retest, starting from the morning's agent. Outputs: Track A ends with one useful work artifact plus one verification habit; Track B ends with a tested agent plus improvement notes. Keep both groups moving: give A the audience-and-output choice, give B the test set, then circulate.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shared support slide, with each track's reference on its own side so you can point to either without switching slides. For Track A, the prompt pattern is the rewrite tool: when an output is weak, walk Goal, Context, Source, Format, Verification. For Track B, a good acceptance test mixes happy path, missing information, unsafe requests and unrelated questions; say, if your test set only asks polite questions the agent is expected to answer, you have tested the demo, not the agent. If groups diverge, remind Track B of the common patches: if it guesses, tell it not to infer; if it refuses badly, have it explain the boundary; if it answers recipes, add an out-of-scope rule; if it over-corrects, clarify what it should answer.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Fifteen-minute break. Before the break, say: after the break we stop admiring the output and start interrogating it.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2 is shorter and focused on quality, and both tracks converge on the same theme: good AI behavior is not just answering, it is answering the right things, refusing the wrong things, and showing uncertainty. Track A moves to practical judgment, asking what source supports this, what is missing, what should not be uploaded, and who owns the final decision. Track B moves from build to quality, aiming for one visible improvement and a documented sense of what good behavior looks like. Outputs: Track A ends with a safer prompt and a safe-use decision table; Track B ends with one patched behavior and a quality checklist. Say: bad AI output is like glitter, it spreads quickly and someone has to clean it up later.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shared support slide for Lab 2. For Track A, these verification prompts are the practical core: show the exact source text that supports this; if no source text exists, say Not specified in the uploaded excerpt; do not infer or guess. Not specified may feel unsatisfying, but it is much safer than a beautifully formatted invention. For Track B, the quality checklist is what turns a cool demo into something closer to a responsible pilot: a clear purpose, an approved knowledge source and owner, clear instructions, safe refusals, out-of-scope boundaries, missing-information behavior, a human escalation path, acceptance tests, and no pancake problem. Say: no pancake problem is funny, but it is a serious design principle, a scoped agent should stay in scope.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Create mixed groups with business and technical participants, because good agent ideas need both: people who know the work and people who understand how it might be built and governed. Push them toward small, scoped, boringly useful use cases. Prompt them to name the pancake question for their agent: harmless-looking, but out of scope. Report-out is tight: one use case, one refusal boundary, one risk, one governance need, and capture these because they feed Day 2's situation check and the Lab 7 canvas. If many people are remote, take volunteers. Optional humor: a good use case is not an agent that does everything, that is not a use case, that is a cry for help with a logo.</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the worksheet slide. Tell groups not to overdesign: they should describe a pilot candidate, not a full enterprise platform. The must-not-do and the questions-it-should-refuse fields are where the morning's lessons land, so do not let groups skip them. Say: small, scoped and useful beats ambitious, vague and impossible to govern.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Revisit the expectations captured this morning. Summarize the key messages: Copilot is an assistant not an autopilot, grounding matters, permissions matter, the first answer is a draft, verification is part of the workflow, a scoped agent should answer the right questions and refuse the wrong ones, scope leakage is funny with pancakes but serious in production, and not specified is sometimes the correct answer. Preview Day 2: we move from using AI in work outputs to using AI in software delivery, with specifications, GitHub Copilot, and the path from requirements to working, documented code. Practical reminder: technical participants bring a laptop with VS Code ready and the Day 2 prerequisites done before arrival. Optional humor: tomorrow we let AI closer to the code, which means we also bring more adult supervision. Close: Day 1 was about using AI well; tomorrow is about building with AI responsibly.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back. Today is one continuous build: by 16:00 the room takes a feature from a plain requirement to working, documented, reviewed code. Say the stack out loud; a technical room reads vagueness as a frozen training. Real roles for non-technical people in spec, validation, documentation, paired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fast readiness check, not first notice. The one thing that bites with 71 people is the first dependency download; it should already be done on each person's own network. If many are not ready, pair people up.</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the single-project arc. Each lab feeds the next; nothing is throwaway. The spec you refine in Lab 3 is the spec you plan in Lab 4 and implement in Lab 5.</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Short interactive moment. Pull Day 1's captured expectations back onto the wall; you return to them at the decision path. Keep it concrete.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landscape so the day's hands-on work has a place to sit on the stack Topcon already runs.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mental model, read bottom to top: models, platform, agents, governance. Today's work sits in the agent and development layer on the platform Topcon already runs. Overview only.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to the Landing Zone work; mention briefly, it is being handled.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products, one slide: governance and operations. The SRE-to-Copilot loop hands off to the rest of the day. Matters most if maintenance and operations is the lens.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landscape and bridge to Module 3. Your decisions now position you for all three; it is positioning, not a forced decision. A Microsoft stack leans on the SRE Agent and Agent 365; an Anthropic stack looks different.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3 covers how Copilot works in VS Code, the model and context choices, the customization surfaces, and live demos on the portal.</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the tool does more per step, the human's review job gets bigger, not smaller. Sets up why review responsibility scales with tool power.</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 the room in the tool they use all afternoon. Name the model picker now; the next slide pays it off. Agent modes get their own mapping shortly.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model is selected materially changes generation. The Enterprise picker carries the models participants need. News: a directive scoped to foreign nationals would bar a Finnish audience from those two models directly, so availability is geopolitical now, not only technical. Do not imply the afternoon is at risk.</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poor results come from poor context, not a poor model. Open the spec and relevant files before prompting. The repo index can fall out of date; refreshing is one click. The repo-level version of Day 1's grounding lesson.</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room will treat the window as infinite; it is not. If the demo machine shows the context panel, use it as a prop. The concrete version of agents pay to read.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conventions file is one member of a family. Most teams start with Instructions and add the rest later; do not sell the whole panel as day-one homework. MCP is awareness-level; the portal demo wires no external tool. Confirm which surfaces the room's build exposes.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Practical patterns, shown live in the demos that follow. Keep this short; you are about to prove it.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imports and dependencies; Copilot offers libraries that do not exist. You own the code regardless of how it was drafted; disclose AI assistance where trust depends on it, in the PR body, not the authorship trailer.</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tool knows these stages; name them once and use the right mode for each. The afternoon uses them deliberately: Ask in Lab 3, Plan in Lab 4, Agent in Lab 5. Plan still produces a plan a human rejects or reorders. Keep demos on Default Approvals, not Autopilot.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Cannot be demoed live (no licence here). Frame honestly as what the next tier offers. Keep it short.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 the room before code flies. Open the empty UI (the before picture for the whole day) and the folder tree, and open copilot-instructions.md itself. That plants the conventions concept before the no-conventions demo pays it off.</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 excludes tests so 3.3 has a job (scoping the AI is the lesson). 3.2 modernises a real 2006-era class and explains its biggest changes: this is the legacy a real device fleet accumulates. 3.3 runs against 3.1's output. Full prompts and reset commands in the runbook.</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Fifteen-minute break. Before the break, say: after the break we make the specification, not the code, the source of truth.</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4 makes the specification the maintained artifact, then proves it live with one feature built three ways.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motivating problem; the poor-prompt run proves it live shortly. Vague intent becomes confident, wrong code. The fix is upstream, not in the prompt.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definition. Plant the word traceable for the regulatory moment in Lab 5.</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afternoon follows this literally; Labs 3 to 6 map one to one. Point forward.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two terms plus retrieval structure. This is what Lab 6 produces.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Name the real situation without criticism. The token-cost point (callback to the context window) makes quality and cost argue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regulatory seed, planted before lunch so the Lab 5 extension lands as a payoff.</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strongest live moment of the morning. Each run generates its own API and UI on its own port, so all three sit side by side in three tabs, good first. Name the cause each time: the prompt was silent, so the model decided, confidently. Only the briefing changed. Port-collision note for 8083 in the runbook.</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Send the room to lunch knowing what they will build. Everyone has a role: spec writing is not coding; implementation runs in pairs. Device framing in your voice; generic in the materials; devices never patients.</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labs on one feature: each output is the next lab's input.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Skeleton provided; refinement is the work. Spec writing is not coding, so non-technical participants take full part. Use Ask mode to explore read-only. Timebox firmly; trainers circulate.</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validation check for Lab 3. Out-of-scope is the quiet hero: the things you name as out of scope are the things the poor-prompt demo invented.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Mirrors demo 4.4, using the Plan agent. Review the generated plan critically and reject or reorder one step; planning is also a review skill.</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Fifteen-minute break. Before the break, say: after the break we implement the plan, then extend it with a real regulatory check.</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build. Pairs keep mixed skill levels engaged and halve the support load. Keep generation scoped so AI run time stays short; the room should not wait on the model.</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payoff of the traceability slide and the Topcon-relevant moment. In a real system you put the check earlier (in the spec) and again before release. The compliance-reviewer chat mode produces the pass/fail report.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Documentation is generated from the work, not written after as a chore. Optional Agents-window beat: hand the doc run to a background agent, keep talking, then review what it produced; the review is the human gate. Default Approvals; prefer local over cloud; have a screenshot fallback.</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workshop makes the need for structure felt; then we name the formal answers and a modest first step.</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Facilitated canvas, not a full design exercise. Ten to fifteen minutes, then one insight per group. Approval and review gates are the natural examples, including the Lab 6 delegate-and-review moment.</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pivot. The canvas made the need for structure felt; now name the formal answers.</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natural fit for this stack. The Constitution maps onto regulated-context constraints; stress that.</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lighter contrast for teams not all-in on one toolchain. Topcon angle: could suit them, but Confluence docs would need converting to markdown in between, and Tino has done exactly that.</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structured end of the spectrum. Claude Code based, but not exclusive of the others; shares formal markdown docs between agents, delta practices, repo as master. Light touch; the canvas already made the case.</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each, for breadth.</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Concrete, modest first steps. Bridge back to the morning's situation check: from where we are to where we want to be. Offer rollout help honestly: Black Belt has done this with very similar tooling.</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the arc in one sentence: today you took a feature from a plain requirement to working, documented, reviewed, compliance-checked code. Thank the room, point to materials and cheat sheets, hand out certificates. Open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rot="2700000">
            <a:off x="502920" y="544068"/>
            <a:ext cx="118872" cy="118872"/>
          </a:xfrm>
          <a:prstGeom prst="rect">
            <a:avLst/>
          </a:prstGeom>
          <a:solidFill>
            <a:srgbClr val="B2542F"/>
          </a:solidFill>
          <a:ln/>
        </p:spPr>
        <p:txBody>
          <a:bodyPr/>
          <a:lstStyle/>
          <a:p>
            <a:endParaRPr lang="en-FI"/>
          </a:p>
        </p:txBody>
      </p:sp>
      <p:sp>
        <p:nvSpPr>
          <p:cNvPr id="3" name="Text 1"/>
          <p:cNvSpPr/>
          <p:nvPr/>
        </p:nvSpPr>
        <p:spPr>
          <a:xfrm>
            <a:off x="740664" y="448056"/>
            <a:ext cx="6858000" cy="292608"/>
          </a:xfrm>
          <a:prstGeom prst="rect">
            <a:avLst/>
          </a:prstGeom>
          <a:noFill/>
          <a:ln/>
        </p:spPr>
        <p:txBody>
          <a:bodyPr wrap="square" lIns="0" tIns="0" rIns="0" bIns="0" rtlCol="0" anchor="ctr"/>
          <a:lstStyle/>
          <a:p>
            <a:pPr marL="0" indent="0">
              <a:buNone/>
            </a:pPr>
            <a:r>
              <a:rPr lang="en-US" sz="1100" b="1" kern="0" spc="400" dirty="0">
                <a:solidFill>
                  <a:srgbClr val="CFC9C2"/>
                </a:solidFill>
                <a:latin typeface="Calibri" pitchFamily="34" charset="0"/>
                <a:ea typeface="Calibri" pitchFamily="34" charset="-122"/>
                <a:cs typeface="Calibri" pitchFamily="34" charset="-120"/>
              </a:rPr>
              <a:t>DAY 1  ·  M365 COPILOT, AGENTS, RESPONSIBLE AI</a:t>
            </a:r>
            <a:endParaRPr lang="en-US" sz="1100" dirty="0"/>
          </a:p>
        </p:txBody>
      </p:sp>
      <p:sp>
        <p:nvSpPr>
          <p:cNvPr id="4" name="Text 2"/>
          <p:cNvSpPr/>
          <p:nvPr/>
        </p:nvSpPr>
        <p:spPr>
          <a:xfrm>
            <a:off x="502920" y="1234440"/>
            <a:ext cx="7863840" cy="1737360"/>
          </a:xfrm>
          <a:prstGeom prst="rect">
            <a:avLst/>
          </a:prstGeom>
          <a:noFill/>
          <a:ln/>
        </p:spPr>
        <p:txBody>
          <a:bodyPr wrap="square" lIns="0" tIns="0" rIns="0" bIns="0" rtlCol="0" anchor="ctr"/>
          <a:lstStyle/>
          <a:p>
            <a:pPr marL="0" indent="0">
              <a:lnSpc>
                <a:spcPts val="5200"/>
              </a:lnSpc>
              <a:buNone/>
            </a:pPr>
            <a:r>
              <a:rPr lang="en-US" sz="4600" dirty="0">
                <a:solidFill>
                  <a:srgbClr val="FFFFFF"/>
                </a:solidFill>
                <a:latin typeface="Cambria" pitchFamily="34" charset="0"/>
                <a:ea typeface="Cambria" pitchFamily="34" charset="-122"/>
                <a:cs typeface="Cambria" pitchFamily="34" charset="-120"/>
              </a:rPr>
              <a:t>Agentic Software</a:t>
            </a:r>
            <a:endParaRPr lang="en-US" sz="4600" dirty="0"/>
          </a:p>
          <a:p>
            <a:pPr marL="0" indent="0">
              <a:lnSpc>
                <a:spcPts val="5200"/>
              </a:lnSpc>
              <a:buNone/>
            </a:pPr>
            <a:r>
              <a:rPr lang="en-US" sz="4600" dirty="0">
                <a:solidFill>
                  <a:srgbClr val="FFFFFF"/>
                </a:solidFill>
                <a:latin typeface="Cambria" pitchFamily="34" charset="0"/>
                <a:ea typeface="Cambria" pitchFamily="34" charset="-122"/>
                <a:cs typeface="Cambria" pitchFamily="34" charset="-120"/>
              </a:rPr>
              <a:t>Development</a:t>
            </a:r>
            <a:endParaRPr lang="en-US" sz="4600" dirty="0"/>
          </a:p>
        </p:txBody>
      </p:sp>
      <p:sp>
        <p:nvSpPr>
          <p:cNvPr id="5" name="Text 3"/>
          <p:cNvSpPr/>
          <p:nvPr/>
        </p:nvSpPr>
        <p:spPr>
          <a:xfrm>
            <a:off x="502920" y="2999232"/>
            <a:ext cx="7315200" cy="640080"/>
          </a:xfrm>
          <a:prstGeom prst="rect">
            <a:avLst/>
          </a:prstGeom>
          <a:noFill/>
          <a:ln/>
        </p:spPr>
        <p:txBody>
          <a:bodyPr wrap="square" lIns="0" tIns="0" rIns="0" bIns="0" rtlCol="0" anchor="ctr"/>
          <a:lstStyle/>
          <a:p>
            <a:pPr marL="0" indent="0">
              <a:buNone/>
            </a:pPr>
            <a:r>
              <a:rPr lang="en-US" sz="2800" i="1" dirty="0">
                <a:solidFill>
                  <a:srgbClr val="B2542F"/>
                </a:solidFill>
                <a:latin typeface="Cambria" pitchFamily="34" charset="0"/>
                <a:ea typeface="Cambria" pitchFamily="34" charset="-122"/>
                <a:cs typeface="Cambria" pitchFamily="34" charset="-120"/>
              </a:rPr>
              <a:t>Day 1: using AI well</a:t>
            </a:r>
            <a:endParaRPr lang="en-US" sz="2800" dirty="0"/>
          </a:p>
        </p:txBody>
      </p:sp>
      <p:sp>
        <p:nvSpPr>
          <p:cNvPr id="6" name="Text 4"/>
          <p:cNvSpPr/>
          <p:nvPr/>
        </p:nvSpPr>
        <p:spPr>
          <a:xfrm>
            <a:off x="502920" y="3977640"/>
            <a:ext cx="5943600" cy="640080"/>
          </a:xfrm>
          <a:prstGeom prst="rect">
            <a:avLst/>
          </a:prstGeom>
          <a:noFill/>
          <a:ln/>
        </p:spPr>
        <p:txBody>
          <a:bodyPr wrap="square" lIns="0" tIns="0" rIns="0" bIns="0" rtlCol="0" anchor="ctr"/>
          <a:lstStyle/>
          <a:p>
            <a:pPr marL="0" indent="0">
              <a:lnSpc>
                <a:spcPts val="2000"/>
              </a:lnSpc>
              <a:buNone/>
            </a:pPr>
            <a:r>
              <a:rPr lang="en-US" sz="1300" dirty="0">
                <a:solidFill>
                  <a:srgbClr val="FFFFFF"/>
                </a:solidFill>
                <a:latin typeface="Calibri" pitchFamily="34" charset="0"/>
                <a:ea typeface="Calibri" pitchFamily="34" charset="-122"/>
                <a:cs typeface="Calibri" pitchFamily="34" charset="-120"/>
              </a:rPr>
              <a:t>Tino Silfver  ·  Jukka Loikkanen</a:t>
            </a:r>
            <a:endParaRPr lang="en-US" sz="1300" dirty="0"/>
          </a:p>
          <a:p>
            <a:pPr marL="0" indent="0">
              <a:lnSpc>
                <a:spcPts val="2000"/>
              </a:lnSpc>
              <a:buNone/>
            </a:pPr>
            <a:r>
              <a:rPr lang="en-US" sz="1300" dirty="0">
                <a:solidFill>
                  <a:srgbClr val="CFC9C2"/>
                </a:solidFill>
                <a:latin typeface="Calibri" pitchFamily="34" charset="0"/>
                <a:ea typeface="Calibri" pitchFamily="34" charset="-122"/>
                <a:cs typeface="Calibri" pitchFamily="34" charset="-120"/>
              </a:rPr>
              <a:t>Topcon Healthcare  ·  June 2026</a:t>
            </a:r>
            <a:endParaRPr lang="en-US" sz="1300" dirty="0"/>
          </a:p>
        </p:txBody>
      </p:sp>
      <p:sp>
        <p:nvSpPr>
          <p:cNvPr id="7" name="Shape 5"/>
          <p:cNvSpPr/>
          <p:nvPr/>
        </p:nvSpPr>
        <p:spPr>
          <a:xfrm rot="2700000">
            <a:off x="7818120" y="4069080"/>
            <a:ext cx="182880" cy="182880"/>
          </a:xfrm>
          <a:prstGeom prst="rect">
            <a:avLst/>
          </a:prstGeom>
          <a:solidFill>
            <a:srgbClr val="B2542F"/>
          </a:solidFill>
          <a:ln/>
        </p:spPr>
        <p:txBody>
          <a:bodyPr/>
          <a:lstStyle/>
          <a:p>
            <a:endParaRPr lang="en-FI"/>
          </a:p>
        </p:txBody>
      </p:sp>
      <p:sp>
        <p:nvSpPr>
          <p:cNvPr id="8" name="Shape 6"/>
          <p:cNvSpPr/>
          <p:nvPr/>
        </p:nvSpPr>
        <p:spPr>
          <a:xfrm rot="2700000">
            <a:off x="8183880" y="4297680"/>
            <a:ext cx="118872" cy="118872"/>
          </a:xfrm>
          <a:prstGeom prst="rect">
            <a:avLst/>
          </a:prstGeom>
          <a:solidFill>
            <a:srgbClr val="5A5550"/>
          </a:solidFill>
          <a:ln/>
        </p:spPr>
        <p:txBody>
          <a:bodyPr/>
          <a:lstStyle/>
          <a:p>
            <a:endParaRPr lang="en-FI"/>
          </a:p>
        </p:txBody>
      </p:sp>
      <p:sp>
        <p:nvSpPr>
          <p:cNvPr id="9" name="Shape 7"/>
          <p:cNvSpPr/>
          <p:nvPr/>
        </p:nvSpPr>
        <p:spPr>
          <a:xfrm rot="2700000">
            <a:off x="7589520" y="4389120"/>
            <a:ext cx="91440" cy="91440"/>
          </a:xfrm>
          <a:prstGeom prst="rect">
            <a:avLst/>
          </a:prstGeom>
          <a:solidFill>
            <a:srgbClr val="5A5550"/>
          </a:solidFill>
          <a:ln/>
        </p:spPr>
        <p:txBody>
          <a:bodyPr/>
          <a:lstStyle/>
          <a:p>
            <a:endParaRPr lang="en-FI"/>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OPENING  ·  THE TWO-DAY ARC</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Two days, one arc</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Day 1: use AI well</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M365 Copilot</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Prompting and grounding</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Copilot Studio agents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Trust, verification, responsible use</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Day 2: build with AI responsibly</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Spec-driven development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GitHub Copilot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Agentic development workflow</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Requirements to working code</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OPENING  ·  BEFORE WE BEGIN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Prerequisites, for both days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Today: signed in to M365 with the Copilot Enterprise add-on (both tracks)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Track B also needs Copilot Studio access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Before Day 2: JDK 25, Git, VS Code with Copilot and the Java pack</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GitHub account with a Copilot licence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Clone the lab repo and run the build once, on your own network</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THE TWO THAT BITE</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The licence blocks this afternoon; the first dependency download blocks Day 2. Do both before Tuesday.</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DAY 1  ·  AGENDA</a:t>
            </a:r>
            <a:endParaRPr lang="en-US" sz="1100" dirty="0"/>
          </a:p>
        </p:txBody>
      </p:sp>
      <p:sp>
        <p:nvSpPr>
          <p:cNvPr id="4" name="Text 2"/>
          <p:cNvSpPr/>
          <p:nvPr/>
        </p:nvSpPr>
        <p:spPr>
          <a:xfrm>
            <a:off x="502920" y="713232"/>
            <a:ext cx="5486400" cy="685800"/>
          </a:xfrm>
          <a:prstGeom prst="rect">
            <a:avLst/>
          </a:prstGeom>
          <a:noFill/>
          <a:ln/>
        </p:spPr>
        <p:txBody>
          <a:bodyPr wrap="square" lIns="0" tIns="0" rIns="0" bIns="0" rtlCol="0" anchor="ctr"/>
          <a:lstStyle/>
          <a:p>
            <a:pPr marL="0" indent="0">
              <a:buNone/>
            </a:pPr>
            <a:r>
              <a:rPr lang="en-US" sz="3800" dirty="0">
                <a:solidFill>
                  <a:srgbClr val="1A1A1A"/>
                </a:solidFill>
                <a:latin typeface="Cambria" pitchFamily="34" charset="0"/>
                <a:ea typeface="Cambria" pitchFamily="34" charset="-122"/>
                <a:cs typeface="Cambria" pitchFamily="34" charset="-120"/>
              </a:rPr>
              <a:t>Today</a:t>
            </a:r>
            <a:endParaRPr lang="en-US" sz="3800" dirty="0"/>
          </a:p>
        </p:txBody>
      </p:sp>
      <p:sp>
        <p:nvSpPr>
          <p:cNvPr id="5" name="Text 3"/>
          <p:cNvSpPr/>
          <p:nvPr/>
        </p:nvSpPr>
        <p:spPr>
          <a:xfrm>
            <a:off x="502920" y="1691640"/>
            <a:ext cx="685800" cy="777240"/>
          </a:xfrm>
          <a:prstGeom prst="rect">
            <a:avLst/>
          </a:prstGeom>
          <a:noFill/>
          <a:ln/>
        </p:spPr>
        <p:txBody>
          <a:bodyPr wrap="square" lIns="0" tIns="0" rIns="0" bIns="0" rtlCol="0" anchor="ctr"/>
          <a:lstStyle/>
          <a:p>
            <a:pPr marL="0" indent="0">
              <a:buNone/>
            </a:pPr>
            <a:r>
              <a:rPr lang="en-US" sz="3000" dirty="0">
                <a:solidFill>
                  <a:srgbClr val="B2542F"/>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280160" y="1728216"/>
            <a:ext cx="3383280" cy="777240"/>
          </a:xfrm>
          <a:prstGeom prst="rect">
            <a:avLst/>
          </a:prstGeom>
          <a:noFill/>
          <a:ln/>
        </p:spPr>
        <p:txBody>
          <a:bodyPr wrap="square" lIns="0" tIns="0" rIns="0" bIns="0" rtlCol="0" anchor="ctr"/>
          <a:lstStyle/>
          <a:p>
            <a:pPr marL="0" indent="0">
              <a:lnSpc>
                <a:spcPts val="1700"/>
              </a:lnSpc>
              <a:buNone/>
            </a:pPr>
            <a:r>
              <a:rPr lang="en-US" sz="1450" b="1" dirty="0">
                <a:solidFill>
                  <a:srgbClr val="1A1A1A"/>
                </a:solidFill>
                <a:latin typeface="Calibri" pitchFamily="34" charset="0"/>
                <a:ea typeface="Calibri" pitchFamily="34" charset="-122"/>
                <a:cs typeface="Calibri" pitchFamily="34" charset="-120"/>
              </a:rPr>
              <a:t>Introduction</a:t>
            </a:r>
            <a:endParaRPr lang="en-US" sz="1450" dirty="0"/>
          </a:p>
          <a:p>
            <a:pPr marL="0" indent="0">
              <a:lnSpc>
                <a:spcPts val="1700"/>
              </a:lnSpc>
              <a:buNone/>
            </a:pPr>
            <a:r>
              <a:rPr lang="en-US" sz="1150" dirty="0">
                <a:solidFill>
                  <a:srgbClr val="8A847C"/>
                </a:solidFill>
                <a:latin typeface="Calibri" pitchFamily="34" charset="0"/>
                <a:ea typeface="Calibri" pitchFamily="34" charset="-122"/>
                <a:cs typeface="Calibri" pitchFamily="34" charset="-120"/>
              </a:rPr>
              <a:t>09:00  ·  objectives and AI maturity check</a:t>
            </a:r>
            <a:endParaRPr lang="en-US" sz="1450" dirty="0"/>
          </a:p>
        </p:txBody>
      </p:sp>
      <p:sp>
        <p:nvSpPr>
          <p:cNvPr id="7" name="Text 5"/>
          <p:cNvSpPr/>
          <p:nvPr/>
        </p:nvSpPr>
        <p:spPr>
          <a:xfrm>
            <a:off x="4800600" y="1691640"/>
            <a:ext cx="685800" cy="777240"/>
          </a:xfrm>
          <a:prstGeom prst="rect">
            <a:avLst/>
          </a:prstGeom>
          <a:noFill/>
          <a:ln/>
        </p:spPr>
        <p:txBody>
          <a:bodyPr wrap="square" lIns="0" tIns="0" rIns="0" bIns="0" rtlCol="0" anchor="ctr"/>
          <a:lstStyle/>
          <a:p>
            <a:pPr marL="0" indent="0">
              <a:buNone/>
            </a:pPr>
            <a:r>
              <a:rPr lang="en-US" sz="3000" dirty="0">
                <a:solidFill>
                  <a:srgbClr val="B2542F"/>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5577840" y="1728216"/>
            <a:ext cx="3383280" cy="777240"/>
          </a:xfrm>
          <a:prstGeom prst="rect">
            <a:avLst/>
          </a:prstGeom>
          <a:noFill/>
          <a:ln/>
        </p:spPr>
        <p:txBody>
          <a:bodyPr wrap="square" lIns="0" tIns="0" rIns="0" bIns="0" rtlCol="0" anchor="ctr"/>
          <a:lstStyle/>
          <a:p>
            <a:pPr marL="0" indent="0">
              <a:lnSpc>
                <a:spcPts val="1700"/>
              </a:lnSpc>
              <a:buNone/>
            </a:pPr>
            <a:r>
              <a:rPr lang="en-US" sz="1450" b="1" dirty="0">
                <a:solidFill>
                  <a:srgbClr val="1A1A1A"/>
                </a:solidFill>
                <a:latin typeface="Calibri" pitchFamily="34" charset="0"/>
                <a:ea typeface="Calibri" pitchFamily="34" charset="-122"/>
                <a:cs typeface="Calibri" pitchFamily="34" charset="-120"/>
              </a:rPr>
              <a:t>M365 Copilot fundamentals</a:t>
            </a:r>
            <a:endParaRPr lang="en-US" sz="1450" dirty="0"/>
          </a:p>
          <a:p>
            <a:pPr marL="0" indent="0">
              <a:lnSpc>
                <a:spcPts val="1700"/>
              </a:lnSpc>
              <a:buNone/>
            </a:pPr>
            <a:r>
              <a:rPr lang="en-US" sz="1150" dirty="0">
                <a:solidFill>
                  <a:srgbClr val="8A847C"/>
                </a:solidFill>
                <a:latin typeface="Calibri" pitchFamily="34" charset="0"/>
                <a:ea typeface="Calibri" pitchFamily="34" charset="-122"/>
                <a:cs typeface="Calibri" pitchFamily="34" charset="-120"/>
              </a:rPr>
              <a:t>09:15  ·  grounding, permissions, prompting</a:t>
            </a:r>
            <a:endParaRPr lang="en-US" sz="1450" dirty="0"/>
          </a:p>
        </p:txBody>
      </p:sp>
      <p:sp>
        <p:nvSpPr>
          <p:cNvPr id="9" name="Text 7"/>
          <p:cNvSpPr/>
          <p:nvPr/>
        </p:nvSpPr>
        <p:spPr>
          <a:xfrm>
            <a:off x="502920" y="2651760"/>
            <a:ext cx="685800" cy="777240"/>
          </a:xfrm>
          <a:prstGeom prst="rect">
            <a:avLst/>
          </a:prstGeom>
          <a:noFill/>
          <a:ln/>
        </p:spPr>
        <p:txBody>
          <a:bodyPr wrap="square" lIns="0" tIns="0" rIns="0" bIns="0" rtlCol="0" anchor="ctr"/>
          <a:lstStyle/>
          <a:p>
            <a:pPr marL="0" indent="0">
              <a:buNone/>
            </a:pPr>
            <a:r>
              <a:rPr lang="en-US" sz="3000" dirty="0">
                <a:solidFill>
                  <a:srgbClr val="B2542F"/>
                </a:solidFill>
                <a:latin typeface="Cambria" pitchFamily="34" charset="0"/>
                <a:ea typeface="Cambria" pitchFamily="34" charset="-122"/>
                <a:cs typeface="Cambria" pitchFamily="34" charset="-120"/>
              </a:rPr>
              <a:t>03</a:t>
            </a:r>
            <a:endParaRPr lang="en-US" sz="3000" dirty="0"/>
          </a:p>
        </p:txBody>
      </p:sp>
      <p:sp>
        <p:nvSpPr>
          <p:cNvPr id="10" name="Text 8"/>
          <p:cNvSpPr/>
          <p:nvPr/>
        </p:nvSpPr>
        <p:spPr>
          <a:xfrm>
            <a:off x="1280160" y="2688336"/>
            <a:ext cx="3383280" cy="777240"/>
          </a:xfrm>
          <a:prstGeom prst="rect">
            <a:avLst/>
          </a:prstGeom>
          <a:noFill/>
          <a:ln/>
        </p:spPr>
        <p:txBody>
          <a:bodyPr wrap="square" lIns="0" tIns="0" rIns="0" bIns="0" rtlCol="0" anchor="ctr"/>
          <a:lstStyle/>
          <a:p>
            <a:pPr marL="0" indent="0">
              <a:lnSpc>
                <a:spcPts val="1700"/>
              </a:lnSpc>
              <a:buNone/>
            </a:pPr>
            <a:r>
              <a:rPr lang="en-US" sz="1450" b="1" dirty="0">
                <a:solidFill>
                  <a:srgbClr val="1A1A1A"/>
                </a:solidFill>
                <a:latin typeface="Calibri" pitchFamily="34" charset="0"/>
                <a:ea typeface="Calibri" pitchFamily="34" charset="-122"/>
                <a:cs typeface="Calibri" pitchFamily="34" charset="-120"/>
              </a:rPr>
              <a:t>Agents and responsible use</a:t>
            </a:r>
            <a:endParaRPr lang="en-US" sz="1450" dirty="0"/>
          </a:p>
          <a:p>
            <a:pPr marL="0" indent="0">
              <a:lnSpc>
                <a:spcPts val="1700"/>
              </a:lnSpc>
              <a:buNone/>
            </a:pPr>
            <a:r>
              <a:rPr lang="en-US" sz="1150" dirty="0">
                <a:solidFill>
                  <a:srgbClr val="8A847C"/>
                </a:solidFill>
                <a:latin typeface="Calibri" pitchFamily="34" charset="0"/>
                <a:ea typeface="Calibri" pitchFamily="34" charset="-122"/>
                <a:cs typeface="Calibri" pitchFamily="34" charset="-120"/>
              </a:rPr>
              <a:t>10:45  ·  Copilot Studio, etiquette, verification</a:t>
            </a:r>
            <a:endParaRPr lang="en-US" sz="1450" dirty="0"/>
          </a:p>
        </p:txBody>
      </p:sp>
      <p:sp>
        <p:nvSpPr>
          <p:cNvPr id="11" name="Text 9"/>
          <p:cNvSpPr/>
          <p:nvPr/>
        </p:nvSpPr>
        <p:spPr>
          <a:xfrm>
            <a:off x="4800600" y="2651760"/>
            <a:ext cx="685800" cy="777240"/>
          </a:xfrm>
          <a:prstGeom prst="rect">
            <a:avLst/>
          </a:prstGeom>
          <a:noFill/>
          <a:ln/>
        </p:spPr>
        <p:txBody>
          <a:bodyPr wrap="square" lIns="0" tIns="0" rIns="0" bIns="0" rtlCol="0" anchor="ctr"/>
          <a:lstStyle/>
          <a:p>
            <a:pPr marL="0" indent="0">
              <a:buNone/>
            </a:pPr>
            <a:r>
              <a:rPr lang="en-US" sz="3000" dirty="0">
                <a:solidFill>
                  <a:srgbClr val="B2542F"/>
                </a:solidFill>
                <a:latin typeface="Cambria" pitchFamily="34" charset="0"/>
                <a:ea typeface="Cambria" pitchFamily="34" charset="-122"/>
                <a:cs typeface="Cambria" pitchFamily="34" charset="-120"/>
              </a:rPr>
              <a:t>04</a:t>
            </a:r>
            <a:endParaRPr lang="en-US" sz="3000" dirty="0"/>
          </a:p>
        </p:txBody>
      </p:sp>
      <p:sp>
        <p:nvSpPr>
          <p:cNvPr id="12" name="Text 10"/>
          <p:cNvSpPr/>
          <p:nvPr/>
        </p:nvSpPr>
        <p:spPr>
          <a:xfrm>
            <a:off x="5577840" y="2688336"/>
            <a:ext cx="3383280" cy="777240"/>
          </a:xfrm>
          <a:prstGeom prst="rect">
            <a:avLst/>
          </a:prstGeom>
          <a:noFill/>
          <a:ln/>
        </p:spPr>
        <p:txBody>
          <a:bodyPr wrap="square" lIns="0" tIns="0" rIns="0" bIns="0" rtlCol="0" anchor="ctr"/>
          <a:lstStyle/>
          <a:p>
            <a:pPr marL="0" indent="0">
              <a:lnSpc>
                <a:spcPts val="1700"/>
              </a:lnSpc>
              <a:buNone/>
            </a:pPr>
            <a:r>
              <a:rPr lang="en-US" sz="1450" b="1" dirty="0">
                <a:solidFill>
                  <a:srgbClr val="1A1A1A"/>
                </a:solidFill>
                <a:latin typeface="Calibri" pitchFamily="34" charset="0"/>
                <a:ea typeface="Calibri" pitchFamily="34" charset="-122"/>
                <a:cs typeface="Calibri" pitchFamily="34" charset="-120"/>
              </a:rPr>
              <a:t>Labs part 1, two tracks</a:t>
            </a:r>
            <a:endParaRPr lang="en-US" sz="1450" dirty="0"/>
          </a:p>
          <a:p>
            <a:pPr marL="0" indent="0">
              <a:lnSpc>
                <a:spcPts val="1700"/>
              </a:lnSpc>
              <a:buNone/>
            </a:pPr>
            <a:r>
              <a:rPr lang="en-US" sz="1150" dirty="0">
                <a:solidFill>
                  <a:srgbClr val="8A847C"/>
                </a:solidFill>
                <a:latin typeface="Calibri" pitchFamily="34" charset="0"/>
                <a:ea typeface="Calibri" pitchFamily="34" charset="-122"/>
                <a:cs typeface="Calibri" pitchFamily="34" charset="-120"/>
              </a:rPr>
              <a:t>13:00  ·  Office copilots and Copilot Studio agents</a:t>
            </a:r>
            <a:endParaRPr lang="en-US" sz="1450" dirty="0"/>
          </a:p>
        </p:txBody>
      </p:sp>
      <p:sp>
        <p:nvSpPr>
          <p:cNvPr id="13" name="Text 11"/>
          <p:cNvSpPr/>
          <p:nvPr/>
        </p:nvSpPr>
        <p:spPr>
          <a:xfrm>
            <a:off x="502920" y="3611880"/>
            <a:ext cx="685800" cy="777240"/>
          </a:xfrm>
          <a:prstGeom prst="rect">
            <a:avLst/>
          </a:prstGeom>
          <a:noFill/>
          <a:ln/>
        </p:spPr>
        <p:txBody>
          <a:bodyPr wrap="square" lIns="0" tIns="0" rIns="0" bIns="0" rtlCol="0" anchor="ctr"/>
          <a:lstStyle/>
          <a:p>
            <a:pPr marL="0" indent="0">
              <a:buNone/>
            </a:pPr>
            <a:r>
              <a:rPr lang="en-US" sz="3000" dirty="0">
                <a:solidFill>
                  <a:srgbClr val="B2542F"/>
                </a:solidFill>
                <a:latin typeface="Cambria" pitchFamily="34" charset="0"/>
                <a:ea typeface="Cambria" pitchFamily="34" charset="-122"/>
                <a:cs typeface="Cambria" pitchFamily="34" charset="-120"/>
              </a:rPr>
              <a:t>05</a:t>
            </a:r>
            <a:endParaRPr lang="en-US" sz="3000" dirty="0"/>
          </a:p>
        </p:txBody>
      </p:sp>
      <p:sp>
        <p:nvSpPr>
          <p:cNvPr id="14" name="Text 12"/>
          <p:cNvSpPr/>
          <p:nvPr/>
        </p:nvSpPr>
        <p:spPr>
          <a:xfrm>
            <a:off x="1280160" y="3648456"/>
            <a:ext cx="3383280" cy="777240"/>
          </a:xfrm>
          <a:prstGeom prst="rect">
            <a:avLst/>
          </a:prstGeom>
          <a:noFill/>
          <a:ln/>
        </p:spPr>
        <p:txBody>
          <a:bodyPr wrap="square" lIns="0" tIns="0" rIns="0" bIns="0" rtlCol="0" anchor="ctr"/>
          <a:lstStyle/>
          <a:p>
            <a:pPr marL="0" indent="0">
              <a:lnSpc>
                <a:spcPts val="1700"/>
              </a:lnSpc>
              <a:buNone/>
            </a:pPr>
            <a:r>
              <a:rPr lang="en-US" sz="1450" b="1" dirty="0">
                <a:solidFill>
                  <a:srgbClr val="1A1A1A"/>
                </a:solidFill>
                <a:latin typeface="Calibri" pitchFamily="34" charset="0"/>
                <a:ea typeface="Calibri" pitchFamily="34" charset="-122"/>
                <a:cs typeface="Calibri" pitchFamily="34" charset="-120"/>
              </a:rPr>
              <a:t>Labs part 2, quality and trust</a:t>
            </a:r>
            <a:endParaRPr lang="en-US" sz="1450" dirty="0"/>
          </a:p>
          <a:p>
            <a:pPr marL="0" indent="0">
              <a:lnSpc>
                <a:spcPts val="1700"/>
              </a:lnSpc>
              <a:buNone/>
            </a:pPr>
            <a:r>
              <a:rPr lang="en-US" sz="1150" dirty="0">
                <a:solidFill>
                  <a:srgbClr val="8A847C"/>
                </a:solidFill>
                <a:latin typeface="Calibri" pitchFamily="34" charset="0"/>
                <a:ea typeface="Calibri" pitchFamily="34" charset="-122"/>
                <a:cs typeface="Calibri" pitchFamily="34" charset="-120"/>
              </a:rPr>
              <a:t>14:45  ·  verify outputs, improve agents</a:t>
            </a:r>
            <a:endParaRPr lang="en-US" sz="1450" dirty="0"/>
          </a:p>
        </p:txBody>
      </p:sp>
      <p:sp>
        <p:nvSpPr>
          <p:cNvPr id="15" name="Text 13"/>
          <p:cNvSpPr/>
          <p:nvPr/>
        </p:nvSpPr>
        <p:spPr>
          <a:xfrm>
            <a:off x="4800600" y="3611880"/>
            <a:ext cx="685800" cy="777240"/>
          </a:xfrm>
          <a:prstGeom prst="rect">
            <a:avLst/>
          </a:prstGeom>
          <a:noFill/>
          <a:ln/>
        </p:spPr>
        <p:txBody>
          <a:bodyPr wrap="square" lIns="0" tIns="0" rIns="0" bIns="0" rtlCol="0" anchor="ctr"/>
          <a:lstStyle/>
          <a:p>
            <a:pPr marL="0" indent="0">
              <a:buNone/>
            </a:pPr>
            <a:r>
              <a:rPr lang="en-US" sz="3000" dirty="0">
                <a:solidFill>
                  <a:srgbClr val="B2542F"/>
                </a:solidFill>
                <a:latin typeface="Cambria" pitchFamily="34" charset="0"/>
                <a:ea typeface="Cambria" pitchFamily="34" charset="-122"/>
                <a:cs typeface="Cambria" pitchFamily="34" charset="-120"/>
              </a:rPr>
              <a:t>06</a:t>
            </a:r>
            <a:endParaRPr lang="en-US" sz="3000" dirty="0"/>
          </a:p>
        </p:txBody>
      </p:sp>
      <p:sp>
        <p:nvSpPr>
          <p:cNvPr id="16" name="Text 14"/>
          <p:cNvSpPr/>
          <p:nvPr/>
        </p:nvSpPr>
        <p:spPr>
          <a:xfrm>
            <a:off x="5577840" y="3648456"/>
            <a:ext cx="3383280" cy="777240"/>
          </a:xfrm>
          <a:prstGeom prst="rect">
            <a:avLst/>
          </a:prstGeom>
          <a:noFill/>
          <a:ln/>
        </p:spPr>
        <p:txBody>
          <a:bodyPr wrap="square" lIns="0" tIns="0" rIns="0" bIns="0" rtlCol="0" anchor="ctr"/>
          <a:lstStyle/>
          <a:p>
            <a:pPr marL="0" indent="0">
              <a:lnSpc>
                <a:spcPts val="1700"/>
              </a:lnSpc>
              <a:buNone/>
            </a:pPr>
            <a:r>
              <a:rPr lang="en-US" sz="1450" b="1" dirty="0">
                <a:solidFill>
                  <a:srgbClr val="1A1A1A"/>
                </a:solidFill>
                <a:latin typeface="Calibri" pitchFamily="34" charset="0"/>
                <a:ea typeface="Calibri" pitchFamily="34" charset="-122"/>
                <a:cs typeface="Calibri" pitchFamily="34" charset="-120"/>
              </a:rPr>
              <a:t>Workshop and debrief</a:t>
            </a:r>
            <a:endParaRPr lang="en-US" sz="1450" dirty="0"/>
          </a:p>
          <a:p>
            <a:pPr marL="0" indent="0">
              <a:lnSpc>
                <a:spcPts val="1700"/>
              </a:lnSpc>
              <a:buNone/>
            </a:pPr>
            <a:r>
              <a:rPr lang="en-US" sz="1150" dirty="0">
                <a:solidFill>
                  <a:srgbClr val="8A847C"/>
                </a:solidFill>
                <a:latin typeface="Calibri" pitchFamily="34" charset="0"/>
                <a:ea typeface="Calibri" pitchFamily="34" charset="-122"/>
                <a:cs typeface="Calibri" pitchFamily="34" charset="-120"/>
              </a:rPr>
              <a:t>15:30  ·  use cases, risks, governance</a:t>
            </a:r>
            <a:endParaRPr lang="en-US" sz="1450" dirty="0"/>
          </a:p>
        </p:txBody>
      </p:sp>
      <p:sp>
        <p:nvSpPr>
          <p:cNvPr id="17" name="Text 15"/>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OPENING  ·  WHERE IS THE ROOM?</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AI maturity check</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 use Copilot or AI tools daily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 use them sometimes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 have tested them once or twice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 am mostly watching carefully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 am here to understand what is actually useful</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a:t>
            </a:r>
            <a:endParaRPr lang="en-US" sz="800" dirty="0"/>
          </a:p>
        </p:txBody>
      </p:sp>
      <p:pic>
        <p:nvPicPr>
          <p:cNvPr id="9" name="Picture 8">
            <a:extLst>
              <a:ext uri="{FF2B5EF4-FFF2-40B4-BE49-F238E27FC236}">
                <a16:creationId xmlns:a16="http://schemas.microsoft.com/office/drawing/2014/main" id="{2102E8B7-E3D5-F0F3-FDED-74E089872016}"/>
              </a:ext>
            </a:extLst>
          </p:cNvPr>
          <p:cNvPicPr>
            <a:picLocks noChangeAspect="1"/>
          </p:cNvPicPr>
          <p:nvPr/>
        </p:nvPicPr>
        <p:blipFill>
          <a:blip r:embed="rId3"/>
          <a:stretch>
            <a:fillRect/>
          </a:stretch>
        </p:blipFill>
        <p:spPr>
          <a:xfrm>
            <a:off x="5041764" y="1033272"/>
            <a:ext cx="3048811" cy="30488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01</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Module 1:</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M365 Copilot</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Fundamentals, grounding, permissions, prompting</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1  ·  FUNDAMENTALS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What M365 Copilot is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An AI assistant across Microsoft 365</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Summarize, draft, rewrite, compare, structure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Reason over work content you can access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Create first versions of work outputs</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ASSISTANT, NOT AUTOPILOT</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Copilot accelerates work but does not remove ownership. The first answer is a draft, not a verdict.</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1  ·  KNOW WHICH ONE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Copilot Chat versus M365 Copilot</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Copilot Chat</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Good for general prompts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Can work with uploaded files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Drafting, reasoning, summarizing</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M365 Copilot</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Uses Microsoft 365 work context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Depends on licence and permissions</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Reasons over accessible work content</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1  ·  GROUNDING</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Microsoft Graph and grounding</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Answers are shaped by the prompt and available context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Accessible files, meetings, chats and emails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Permissions and source quality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Two people, different access, different answers</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GROUNDED IN WHAT?</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Copilot is like an analyst who can only read the folders they are allowed to open.</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1  ·  GOVERNANCE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Security and permissions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Copilot does not bypass permissions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But it makes accessible information easier to find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Overshared files become more visible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Document hygiene and ownership matter more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AI does not replace governance; it makes it visible</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1  ·  PROMPTING</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 simple prompt pattern</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Goal: what do you want?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Context: what does Copilot need to know?</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Source: what should it use?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Format: what should the output look like?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Verification: what should it prove or mark uncertain?</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1  ·  DEMO BLOCK 1</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Demos: Copilot on real work</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1. Upload source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2. Ask for a useful output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3. Improve the format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4. Verify the answer</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5. Decide what still needs human judgment</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Coffee break</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15 minutes  ·  10:25 to 10:40</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12</a:t>
            </a:r>
            <a:endParaRPr lang="en-US" sz="800" dirty="0"/>
          </a:p>
        </p:txBody>
      </p:sp>
      <p:pic>
        <p:nvPicPr>
          <p:cNvPr id="8" name="Picture 7" descr="coffee.png"/>
          <p:cNvPicPr>
            <a:picLocks noChangeAspect="1"/>
          </p:cNvPicPr>
          <p:nvPr/>
        </p:nvPicPr>
        <p:blipFill>
          <a:blip r:embed="rId3"/>
          <a:stretch>
            <a:fillRect/>
          </a:stretch>
        </p:blipFill>
        <p:spPr>
          <a:xfrm>
            <a:off x="502920" y="914400"/>
            <a:ext cx="1554480" cy="1554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02</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Module 2:</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Agents and</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responsible use</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Agents, etiquette, hallucinations, healthcare</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AGENTS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What an AI agent is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chatbot answers; an agent works toward a goal</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useful agent has purpose and instructions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Knowledge, tools or actions, and boundaries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Testing and a human owner</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TOOLING</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Copilot Studio in one slide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Create agents with instructions and knowledge sources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Skills or guidance, test chat, actions and integrations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Governance controls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Today: scope, knowledge, behavior, testing</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AWARENESS LEVEL</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The guide is what the agent knows. The instructions are how it behaves. Testing tells us whether either one worked.</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DIRECTION OF TRAVEL</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From cowork to always-on</a:t>
            </a:r>
            <a:endParaRPr lang="en-US" sz="3000" dirty="0"/>
          </a:p>
        </p:txBody>
      </p:sp>
      <p:sp>
        <p:nvSpPr>
          <p:cNvPr id="5" name="Shape 3"/>
          <p:cNvSpPr/>
          <p:nvPr/>
        </p:nvSpPr>
        <p:spPr>
          <a:xfrm>
            <a:off x="502920"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Shape 4"/>
          <p:cNvSpPr/>
          <p:nvPr/>
        </p:nvSpPr>
        <p:spPr>
          <a:xfrm>
            <a:off x="758952" y="1947672"/>
            <a:ext cx="457200" cy="457200"/>
          </a:xfrm>
          <a:prstGeom prst="ellipse">
            <a:avLst/>
          </a:prstGeom>
          <a:solidFill>
            <a:srgbClr val="1A1A1A"/>
          </a:solidFill>
          <a:ln/>
        </p:spPr>
        <p:txBody>
          <a:bodyPr/>
          <a:lstStyle/>
          <a:p>
            <a:endParaRPr lang="en-FI"/>
          </a:p>
        </p:txBody>
      </p:sp>
      <p:sp>
        <p:nvSpPr>
          <p:cNvPr id="7" name="Text 5"/>
          <p:cNvSpPr/>
          <p:nvPr/>
        </p:nvSpPr>
        <p:spPr>
          <a:xfrm>
            <a:off x="758952"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58952"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Assistants</a:t>
            </a:r>
            <a:endParaRPr lang="en-US" sz="1500" dirty="0"/>
          </a:p>
        </p:txBody>
      </p:sp>
      <p:sp>
        <p:nvSpPr>
          <p:cNvPr id="9" name="Text 7"/>
          <p:cNvSpPr/>
          <p:nvPr/>
        </p:nvSpPr>
        <p:spPr>
          <a:xfrm>
            <a:off x="758952"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Help when asked</a:t>
            </a:r>
            <a:endParaRPr lang="en-US" sz="1200" dirty="0"/>
          </a:p>
        </p:txBody>
      </p:sp>
      <p:sp>
        <p:nvSpPr>
          <p:cNvPr id="10" name="Shape 8"/>
          <p:cNvSpPr/>
          <p:nvPr/>
        </p:nvSpPr>
        <p:spPr>
          <a:xfrm>
            <a:off x="3300984"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1" name="Shape 9"/>
          <p:cNvSpPr/>
          <p:nvPr/>
        </p:nvSpPr>
        <p:spPr>
          <a:xfrm>
            <a:off x="3557016" y="1947672"/>
            <a:ext cx="457200" cy="457200"/>
          </a:xfrm>
          <a:prstGeom prst="ellipse">
            <a:avLst/>
          </a:prstGeom>
          <a:solidFill>
            <a:srgbClr val="1A1A1A"/>
          </a:solidFill>
          <a:ln/>
        </p:spPr>
        <p:txBody>
          <a:bodyPr/>
          <a:lstStyle/>
          <a:p>
            <a:endParaRPr lang="en-FI"/>
          </a:p>
        </p:txBody>
      </p:sp>
      <p:sp>
        <p:nvSpPr>
          <p:cNvPr id="12" name="Text 10"/>
          <p:cNvSpPr/>
          <p:nvPr/>
        </p:nvSpPr>
        <p:spPr>
          <a:xfrm>
            <a:off x="3557016"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57016"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Agents</a:t>
            </a:r>
            <a:endParaRPr lang="en-US" sz="1500" dirty="0"/>
          </a:p>
        </p:txBody>
      </p:sp>
      <p:sp>
        <p:nvSpPr>
          <p:cNvPr id="14" name="Text 12"/>
          <p:cNvSpPr/>
          <p:nvPr/>
        </p:nvSpPr>
        <p:spPr>
          <a:xfrm>
            <a:off x="3557016"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Work toward a defined goal</a:t>
            </a:r>
            <a:endParaRPr lang="en-US" sz="1200" dirty="0"/>
          </a:p>
        </p:txBody>
      </p:sp>
      <p:sp>
        <p:nvSpPr>
          <p:cNvPr id="15" name="Shape 13"/>
          <p:cNvSpPr/>
          <p:nvPr/>
        </p:nvSpPr>
        <p:spPr>
          <a:xfrm>
            <a:off x="6099048"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6" name="Shape 14"/>
          <p:cNvSpPr/>
          <p:nvPr/>
        </p:nvSpPr>
        <p:spPr>
          <a:xfrm>
            <a:off x="6355080" y="1947672"/>
            <a:ext cx="457200" cy="457200"/>
          </a:xfrm>
          <a:prstGeom prst="ellipse">
            <a:avLst/>
          </a:prstGeom>
          <a:solidFill>
            <a:srgbClr val="1A1A1A"/>
          </a:solidFill>
          <a:ln/>
        </p:spPr>
        <p:txBody>
          <a:bodyPr/>
          <a:lstStyle/>
          <a:p>
            <a:endParaRPr lang="en-FI"/>
          </a:p>
        </p:txBody>
      </p:sp>
      <p:sp>
        <p:nvSpPr>
          <p:cNvPr id="17" name="Text 15"/>
          <p:cNvSpPr/>
          <p:nvPr/>
        </p:nvSpPr>
        <p:spPr>
          <a:xfrm>
            <a:off x="6355080"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355080"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Always-on</a:t>
            </a:r>
            <a:endParaRPr lang="en-US" sz="1500" dirty="0"/>
          </a:p>
        </p:txBody>
      </p:sp>
      <p:sp>
        <p:nvSpPr>
          <p:cNvPr id="19" name="Text 17"/>
          <p:cNvSpPr/>
          <p:nvPr/>
        </p:nvSpPr>
        <p:spPr>
          <a:xfrm>
            <a:off x="6355080"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Monitor, trigger, act, escalate</a:t>
            </a:r>
            <a:endParaRPr lang="en-US" sz="1200" dirty="0"/>
          </a:p>
        </p:txBody>
      </p:sp>
      <p:sp>
        <p:nvSpPr>
          <p:cNvPr id="20" name="Text 1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21" name="Text 1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ETIQUETTE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AI etiquette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Good AI use is also professional behavior</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Disclose AI use where appropriate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Check before recording or summarizing meetings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Review before sharing externally; do not upload casually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Keep humans accountable for decisions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VERIFY</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Hallucinations and verification</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Fluent does not mean true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Watch for invented facts and unsupported numbers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Confident summaries, missing caveats, wrong sources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Habits: ask for evidence, ask what is missing</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Check the source, use human judgment</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THE DANGEROUS KIND</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A hallucination is AI wearing a suit and saying something completely wrong with excellent formatting.</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HABITS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Common anti-patterns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Uploading sensitive data into unmanaged tools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Treating first drafts as final</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Using Copilot said so as evidence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Ignoring permissions and oversharing</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Asking broad questions with no source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Building agents without boundaries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HEALTHCARE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Responsible use in healthcare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Higher sensitivity means higher discipline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Patient data, customer-confidential information</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Clinical interpretation, service records, regulated docs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Use synthetic data for training</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Use approved systems for real work</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DEMO BLOCK 2</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Demos: agents and trust</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simple Copilot Studio agent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Grounded versus ungrounded answers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Scope leakage: the cafe problem</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Hallucination resistance: not specified</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2  ·  AFTER LUNCH</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Lunch, then two lab tracks</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Track A: business users</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M365 Copilot for work outputs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Have Word, Outlook, Teams open</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Track B: technical / power users</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Copilot Studio agent testing</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Copilot Studio access ready</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03</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Afternoon:</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hands-on labs</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Two tracks, run in parallel, then a shared workshop</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LABS  ·  HOW THIS WORKS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Afternoon labs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Morning: watch the method. Afternoon: apply it.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labs are not a replay of the demos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Choose audience or output; verify sources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Test boundaries; improve prompts or agent behavior</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Decide where human judgment is needed</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LABS  ·  CHOOSE YOUR PATH</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Choose your lab path</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Track A: business users</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Role-specific summaries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Stakeholder reports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Action trackers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Safe-use prompts</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Track B: technical / power users</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a scoped agent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Test expected behavior</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Expose scope leakage</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Patch and retest boundaries</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AFTERNOON LAB 1  ·  13:10 TO 14:30</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Apply the method, in two tracks</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Track A: work outputs</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A1 Same meeting, different audience</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A2 Build the artifact the stakeholder needs</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A3 Email thread to a comms package</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A4 Your own safe work scenario</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Track B: agent testing</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B1 Create base agent, add knowledge</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B2 Happy-path acceptance test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B3 Boundary and refusal test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B4 Cafe scope leakage, then criteria</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1  ·  REFERENCE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Keep both tracks moving</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Track A: prompt pattern</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Goal: what to create</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Context: who for and why</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Source: which uploaded file</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Format: table, email, checklist</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Verification: prove or mark uncertain</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Track B: acceptance test</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Purpose and required fields</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When to escalate a fault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Patient details (should refuse)</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Retention period (not specified)</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pasta recipe (should refuse)</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Coffee break</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15 minutes  ·  14:30 to 14:45</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28</a:t>
            </a:r>
            <a:endParaRPr lang="en-US" sz="800" dirty="0"/>
          </a:p>
        </p:txBody>
      </p:sp>
      <p:pic>
        <p:nvPicPr>
          <p:cNvPr id="8" name="Picture 7" descr="coffee.png"/>
          <p:cNvPicPr>
            <a:picLocks noChangeAspect="1"/>
          </p:cNvPicPr>
          <p:nvPr/>
        </p:nvPicPr>
        <p:blipFill>
          <a:blip r:embed="rId3"/>
          <a:stretch>
            <a:fillRect/>
          </a:stretch>
        </p:blipFill>
        <p:spPr>
          <a:xfrm>
            <a:off x="502920" y="914400"/>
            <a:ext cx="1554480" cy="15544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AFTERNOON LAB 2  ·  14:50 TO 15:30</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Quality and trust, in two tracks</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Track A: verify and improve</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A2.1 Not specified is a good answer</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A2.2 Safe-use decision table</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A2.3 Rewrite one weak prompt</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Track B: quality and guardrails</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B2.1 Compact acceptance test</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B2.2 Patch one failure</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B2.3 Agent quality checklist</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29</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2  ·  REFERENCE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Verify, then certify</a:t>
            </a:r>
            <a:endParaRPr lang="en-US" sz="3000" dirty="0"/>
          </a:p>
        </p:txBody>
      </p:sp>
      <p:sp>
        <p:nvSpPr>
          <p:cNvPr id="5" name="Shape 3"/>
          <p:cNvSpPr/>
          <p:nvPr/>
        </p:nvSpPr>
        <p:spPr>
          <a:xfrm>
            <a:off x="502920" y="1645920"/>
            <a:ext cx="3977640" cy="2697480"/>
          </a:xfrm>
          <a:prstGeom prst="roundRect">
            <a:avLst>
              <a:gd name="adj" fmla="val 2034"/>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Text 4"/>
          <p:cNvSpPr/>
          <p:nvPr/>
        </p:nvSpPr>
        <p:spPr>
          <a:xfrm>
            <a:off x="822960" y="1874520"/>
            <a:ext cx="3291840" cy="411480"/>
          </a:xfrm>
          <a:prstGeom prst="rect">
            <a:avLst/>
          </a:prstGeom>
          <a:noFill/>
          <a:ln/>
        </p:spPr>
        <p:txBody>
          <a:bodyPr wrap="square" lIns="0" tIns="0" rIns="0" bIns="0" rtlCol="0" anchor="ctr"/>
          <a:lstStyle/>
          <a:p>
            <a:pPr marL="0" indent="0">
              <a:buNone/>
            </a:pPr>
            <a:r>
              <a:rPr lang="en-US" sz="1900" dirty="0">
                <a:solidFill>
                  <a:srgbClr val="8A847C"/>
                </a:solidFill>
                <a:latin typeface="Cambria" pitchFamily="34" charset="0"/>
                <a:ea typeface="Cambria" pitchFamily="34" charset="-122"/>
                <a:cs typeface="Cambria" pitchFamily="34" charset="-120"/>
              </a:rPr>
              <a:t>Track A: verification prompts</a:t>
            </a:r>
            <a:endParaRPr lang="en-US" sz="1900" dirty="0"/>
          </a:p>
        </p:txBody>
      </p:sp>
      <p:sp>
        <p:nvSpPr>
          <p:cNvPr id="7" name="Text 5"/>
          <p:cNvSpPr/>
          <p:nvPr/>
        </p:nvSpPr>
        <p:spPr>
          <a:xfrm>
            <a:off x="82296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Show the exact source text</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If none, say Not specified</a:t>
            </a:r>
            <a:endParaRPr lang="en-US" sz="1300" dirty="0"/>
          </a:p>
          <a:p>
            <a:pPr marL="342900" indent="-342900">
              <a:lnSpc>
                <a:spcPts val="2100"/>
              </a:lnSpc>
              <a:spcAft>
                <a:spcPts val="700"/>
              </a:spcAft>
              <a:buSzPct val="100000"/>
              <a:buChar char="•"/>
            </a:pPr>
            <a:r>
              <a:rPr lang="en-US" sz="1300" dirty="0">
                <a:solidFill>
                  <a:srgbClr val="3A3733"/>
                </a:solidFill>
                <a:latin typeface="Calibri" pitchFamily="34" charset="0"/>
                <a:ea typeface="Calibri" pitchFamily="34" charset="-122"/>
                <a:cs typeface="Calibri" pitchFamily="34" charset="-120"/>
              </a:rPr>
              <a:t>Do not infer or guess</a:t>
            </a:r>
            <a:endParaRPr lang="en-US" sz="1300" dirty="0"/>
          </a:p>
        </p:txBody>
      </p:sp>
      <p:sp>
        <p:nvSpPr>
          <p:cNvPr id="8" name="Shape 6"/>
          <p:cNvSpPr/>
          <p:nvPr/>
        </p:nvSpPr>
        <p:spPr>
          <a:xfrm>
            <a:off x="4663440" y="1645920"/>
            <a:ext cx="3977640" cy="2697480"/>
          </a:xfrm>
          <a:prstGeom prst="roundRect">
            <a:avLst>
              <a:gd name="adj" fmla="val 2034"/>
            </a:avLst>
          </a:prstGeom>
          <a:solidFill>
            <a:srgbClr val="1A1A1A"/>
          </a:solidFill>
          <a:ln/>
        </p:spPr>
        <p:txBody>
          <a:bodyPr/>
          <a:lstStyle/>
          <a:p>
            <a:endParaRPr lang="en-FI"/>
          </a:p>
        </p:txBody>
      </p:sp>
      <p:sp>
        <p:nvSpPr>
          <p:cNvPr id="9" name="Text 7"/>
          <p:cNvSpPr/>
          <p:nvPr/>
        </p:nvSpPr>
        <p:spPr>
          <a:xfrm>
            <a:off x="4983480" y="1874520"/>
            <a:ext cx="3291840" cy="411480"/>
          </a:xfrm>
          <a:prstGeom prst="rect">
            <a:avLst/>
          </a:prstGeom>
          <a:noFill/>
          <a:ln/>
        </p:spPr>
        <p:txBody>
          <a:bodyPr wrap="square" lIns="0" tIns="0" rIns="0" bIns="0" rtlCol="0" anchor="ctr"/>
          <a:lstStyle/>
          <a:p>
            <a:pPr marL="0" indent="0">
              <a:buNone/>
            </a:pPr>
            <a:r>
              <a:rPr lang="en-US" sz="1900" dirty="0">
                <a:solidFill>
                  <a:srgbClr val="B2542F"/>
                </a:solidFill>
                <a:latin typeface="Cambria" pitchFamily="34" charset="0"/>
                <a:ea typeface="Cambria" pitchFamily="34" charset="-122"/>
                <a:cs typeface="Cambria" pitchFamily="34" charset="-120"/>
              </a:rPr>
              <a:t>Track B: quality checklist</a:t>
            </a:r>
            <a:endParaRPr lang="en-US" sz="1900" dirty="0"/>
          </a:p>
        </p:txBody>
      </p:sp>
      <p:sp>
        <p:nvSpPr>
          <p:cNvPr id="10" name="Text 8"/>
          <p:cNvSpPr/>
          <p:nvPr/>
        </p:nvSpPr>
        <p:spPr>
          <a:xfrm>
            <a:off x="4983480" y="2377440"/>
            <a:ext cx="3383280" cy="1737360"/>
          </a:xfrm>
          <a:prstGeom prst="rect">
            <a:avLst/>
          </a:prstGeom>
          <a:noFill/>
          <a:ln/>
        </p:spPr>
        <p:txBody>
          <a:bodyPr wrap="square" lIns="0" tIns="0" rIns="0" bIns="0" rtlCol="0" anchor="ctr"/>
          <a:lstStyle/>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Purpose, knowledge source, owner</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Safe refusals and boundaries</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Escalation path and tests</a:t>
            </a:r>
            <a:endParaRPr lang="en-US" sz="1300" dirty="0"/>
          </a:p>
          <a:p>
            <a:pPr marL="342900" indent="-342900">
              <a:lnSpc>
                <a:spcPts val="21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pancake problem</a:t>
            </a:r>
            <a:endParaRPr lang="en-US" sz="1300" dirty="0"/>
          </a:p>
        </p:txBody>
      </p:sp>
      <p:sp>
        <p:nvSpPr>
          <p:cNvPr id="11" name="Text 9"/>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2" name="Text 10"/>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30</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WORKSHOP  ·  MIXED GROUPS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Where could an agent help at Topcon?</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Who is the user? What problem does it solve?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should the agent do, and not do?</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knowledge source is needed?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risks exist? What governance?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is the first small pilot step?</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31</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WORKSHOP  ·  WORKSHEET</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Agent Use Case Canvas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Use case, user group, problem it solves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the agent should do, and must not do</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Knowledge sources; good and refused questions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Main risks; governance or approval needed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Human owner; first small pilot step</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32</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rot="2700000">
            <a:off x="502920" y="544068"/>
            <a:ext cx="118872" cy="118872"/>
          </a:xfrm>
          <a:prstGeom prst="rect">
            <a:avLst/>
          </a:prstGeom>
          <a:solidFill>
            <a:srgbClr val="B2542F"/>
          </a:solidFill>
          <a:ln/>
        </p:spPr>
        <p:txBody>
          <a:bodyPr/>
          <a:lstStyle/>
          <a:p>
            <a:endParaRPr lang="en-FI"/>
          </a:p>
        </p:txBody>
      </p:sp>
      <p:sp>
        <p:nvSpPr>
          <p:cNvPr id="3" name="Text 1"/>
          <p:cNvSpPr/>
          <p:nvPr/>
        </p:nvSpPr>
        <p:spPr>
          <a:xfrm>
            <a:off x="740664" y="448056"/>
            <a:ext cx="6858000" cy="292608"/>
          </a:xfrm>
          <a:prstGeom prst="rect">
            <a:avLst/>
          </a:prstGeom>
          <a:noFill/>
          <a:ln/>
        </p:spPr>
        <p:txBody>
          <a:bodyPr wrap="square" lIns="0" tIns="0" rIns="0" bIns="0" rtlCol="0" anchor="ctr"/>
          <a:lstStyle/>
          <a:p>
            <a:pPr marL="0" indent="0">
              <a:buNone/>
            </a:pPr>
            <a:r>
              <a:rPr lang="en-US" sz="1100" b="1" kern="0" spc="400" dirty="0">
                <a:solidFill>
                  <a:srgbClr val="CFC9C2"/>
                </a:solidFill>
                <a:latin typeface="Calibri" pitchFamily="34" charset="0"/>
                <a:ea typeface="Calibri" pitchFamily="34" charset="-122"/>
                <a:cs typeface="Calibri" pitchFamily="34" charset="-120"/>
              </a:rPr>
              <a:t>DAY 1  ·  WRAP-UP</a:t>
            </a:r>
            <a:endParaRPr lang="en-US" sz="1100" dirty="0"/>
          </a:p>
        </p:txBody>
      </p:sp>
      <p:sp>
        <p:nvSpPr>
          <p:cNvPr id="4" name="Text 2"/>
          <p:cNvSpPr/>
          <p:nvPr/>
        </p:nvSpPr>
        <p:spPr>
          <a:xfrm>
            <a:off x="502920" y="1554480"/>
            <a:ext cx="7315200" cy="1188720"/>
          </a:xfrm>
          <a:prstGeom prst="rect">
            <a:avLst/>
          </a:prstGeom>
          <a:noFill/>
          <a:ln/>
        </p:spPr>
        <p:txBody>
          <a:bodyPr wrap="square" lIns="0" tIns="0" rIns="0" bIns="0" rtlCol="0" anchor="ctr"/>
          <a:lstStyle/>
          <a:p>
            <a:pPr marL="0" indent="0">
              <a:buNone/>
            </a:pPr>
            <a:r>
              <a:rPr lang="en-US" sz="6000" dirty="0">
                <a:solidFill>
                  <a:srgbClr val="FFFFFF"/>
                </a:solidFill>
                <a:latin typeface="Cambria" pitchFamily="34" charset="0"/>
                <a:ea typeface="Cambria" pitchFamily="34" charset="-122"/>
                <a:cs typeface="Cambria" pitchFamily="34" charset="-120"/>
              </a:rPr>
              <a:t>Kiitos.</a:t>
            </a:r>
            <a:endParaRPr lang="en-US" sz="6000" dirty="0"/>
          </a:p>
        </p:txBody>
      </p:sp>
      <p:sp>
        <p:nvSpPr>
          <p:cNvPr id="5" name="Text 3"/>
          <p:cNvSpPr/>
          <p:nvPr/>
        </p:nvSpPr>
        <p:spPr>
          <a:xfrm>
            <a:off x="502920" y="2834640"/>
            <a:ext cx="6400800" cy="457200"/>
          </a:xfrm>
          <a:prstGeom prst="rect">
            <a:avLst/>
          </a:prstGeom>
          <a:noFill/>
          <a:ln/>
        </p:spPr>
        <p:txBody>
          <a:bodyPr wrap="square" lIns="0" tIns="0" rIns="0" bIns="0" rtlCol="0" anchor="ctr"/>
          <a:lstStyle/>
          <a:p>
            <a:pPr marL="0" indent="0">
              <a:buNone/>
            </a:pPr>
            <a:r>
              <a:rPr lang="en-US" sz="1600" dirty="0">
                <a:solidFill>
                  <a:srgbClr val="B2542F"/>
                </a:solidFill>
                <a:latin typeface="Calibri" pitchFamily="34" charset="0"/>
                <a:ea typeface="Calibri" pitchFamily="34" charset="-122"/>
                <a:cs typeface="Calibri" pitchFamily="34" charset="-120"/>
              </a:rPr>
              <a:t>Tomorrow: spec-driven development and GitHub Copilot</a:t>
            </a:r>
            <a:endParaRPr lang="en-US" sz="1600" dirty="0"/>
          </a:p>
        </p:txBody>
      </p:sp>
      <p:sp>
        <p:nvSpPr>
          <p:cNvPr id="6" name="Text 4"/>
          <p:cNvSpPr/>
          <p:nvPr/>
        </p:nvSpPr>
        <p:spPr>
          <a:xfrm>
            <a:off x="502920" y="3657600"/>
            <a:ext cx="5943600" cy="640080"/>
          </a:xfrm>
          <a:prstGeom prst="rect">
            <a:avLst/>
          </a:prstGeom>
          <a:noFill/>
          <a:ln/>
        </p:spPr>
        <p:txBody>
          <a:bodyPr wrap="square" lIns="0" tIns="0" rIns="0" bIns="0" rtlCol="0" anchor="ctr"/>
          <a:lstStyle/>
          <a:p>
            <a:pPr marL="0" indent="0">
              <a:lnSpc>
                <a:spcPts val="2000"/>
              </a:lnSpc>
              <a:buNone/>
            </a:pPr>
            <a:r>
              <a:rPr lang="en-US" sz="1300" dirty="0">
                <a:solidFill>
                  <a:srgbClr val="CFC9C2"/>
                </a:solidFill>
                <a:latin typeface="Calibri" pitchFamily="34" charset="0"/>
                <a:ea typeface="Calibri" pitchFamily="34" charset="-122"/>
                <a:cs typeface="Calibri" pitchFamily="34" charset="-120"/>
              </a:rPr>
              <a:t>Today: Copilot fundamentals, grounding, agents, responsible use</a:t>
            </a:r>
            <a:endParaRPr lang="en-US" sz="1300" dirty="0"/>
          </a:p>
          <a:p>
            <a:pPr marL="0" indent="0">
              <a:lnSpc>
                <a:spcPts val="2000"/>
              </a:lnSpc>
              <a:buNone/>
            </a:pPr>
            <a:r>
              <a:rPr lang="en-US" sz="1300" dirty="0">
                <a:solidFill>
                  <a:srgbClr val="CFC9C2"/>
                </a:solidFill>
                <a:latin typeface="Calibri" pitchFamily="34" charset="0"/>
                <a:ea typeface="Calibri" pitchFamily="34" charset="-122"/>
                <a:cs typeface="Calibri" pitchFamily="34" charset="-120"/>
              </a:rPr>
              <a:t>Bring a laptop with VS Code ready; do the Day 2 prerequisites</a:t>
            </a:r>
            <a:endParaRPr lang="en-US" sz="1300" dirty="0"/>
          </a:p>
        </p:txBody>
      </p:sp>
      <p:sp>
        <p:nvSpPr>
          <p:cNvPr id="7" name="Shape 5"/>
          <p:cNvSpPr/>
          <p:nvPr/>
        </p:nvSpPr>
        <p:spPr>
          <a:xfrm rot="2700000">
            <a:off x="7818120" y="4069080"/>
            <a:ext cx="182880" cy="182880"/>
          </a:xfrm>
          <a:prstGeom prst="rect">
            <a:avLst/>
          </a:prstGeom>
          <a:solidFill>
            <a:srgbClr val="B2542F"/>
          </a:solidFill>
          <a:ln/>
        </p:spPr>
        <p:txBody>
          <a:bodyPr/>
          <a:lstStyle/>
          <a:p>
            <a:endParaRPr lang="en-FI"/>
          </a:p>
        </p:txBody>
      </p:sp>
      <p:sp>
        <p:nvSpPr>
          <p:cNvPr id="8" name="Shape 6"/>
          <p:cNvSpPr/>
          <p:nvPr/>
        </p:nvSpPr>
        <p:spPr>
          <a:xfrm rot="2700000">
            <a:off x="8183880" y="4297680"/>
            <a:ext cx="118872" cy="118872"/>
          </a:xfrm>
          <a:prstGeom prst="rect">
            <a:avLst/>
          </a:prstGeom>
          <a:solidFill>
            <a:srgbClr val="5A5550"/>
          </a:solidFill>
          <a:ln/>
        </p:spPr>
        <p:txBody>
          <a:bodyPr/>
          <a:lstStyle/>
          <a:p>
            <a:endParaRPr lang="en-FI"/>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rot="2700000">
            <a:off x="502920" y="544068"/>
            <a:ext cx="118872" cy="118872"/>
          </a:xfrm>
          <a:prstGeom prst="rect">
            <a:avLst/>
          </a:prstGeom>
          <a:solidFill>
            <a:srgbClr val="B2542F"/>
          </a:solidFill>
          <a:ln/>
        </p:spPr>
        <p:txBody>
          <a:bodyPr/>
          <a:lstStyle/>
          <a:p>
            <a:endParaRPr lang="en-FI"/>
          </a:p>
        </p:txBody>
      </p:sp>
      <p:sp>
        <p:nvSpPr>
          <p:cNvPr id="3" name="Text 1"/>
          <p:cNvSpPr/>
          <p:nvPr/>
        </p:nvSpPr>
        <p:spPr>
          <a:xfrm>
            <a:off x="740664" y="448056"/>
            <a:ext cx="6858000" cy="292608"/>
          </a:xfrm>
          <a:prstGeom prst="rect">
            <a:avLst/>
          </a:prstGeom>
          <a:noFill/>
          <a:ln/>
        </p:spPr>
        <p:txBody>
          <a:bodyPr wrap="square" lIns="0" tIns="0" rIns="0" bIns="0" rtlCol="0" anchor="ctr"/>
          <a:lstStyle/>
          <a:p>
            <a:pPr marL="0" indent="0">
              <a:buNone/>
            </a:pPr>
            <a:r>
              <a:rPr lang="en-US" sz="1100" b="1" kern="0" spc="400" dirty="0">
                <a:solidFill>
                  <a:srgbClr val="CFC9C2"/>
                </a:solidFill>
                <a:latin typeface="Calibri" pitchFamily="34" charset="0"/>
                <a:ea typeface="Calibri" pitchFamily="34" charset="-122"/>
                <a:cs typeface="Calibri" pitchFamily="34" charset="-120"/>
              </a:rPr>
              <a:t>DAY 2  ·  SPEC-DRIVEN DEVELOPMENT</a:t>
            </a:r>
            <a:endParaRPr lang="en-US" sz="1100" dirty="0"/>
          </a:p>
        </p:txBody>
      </p:sp>
      <p:sp>
        <p:nvSpPr>
          <p:cNvPr id="4" name="Text 2"/>
          <p:cNvSpPr/>
          <p:nvPr/>
        </p:nvSpPr>
        <p:spPr>
          <a:xfrm>
            <a:off x="502920" y="1234440"/>
            <a:ext cx="7863840" cy="1737360"/>
          </a:xfrm>
          <a:prstGeom prst="rect">
            <a:avLst/>
          </a:prstGeom>
          <a:noFill/>
          <a:ln/>
        </p:spPr>
        <p:txBody>
          <a:bodyPr wrap="square" lIns="0" tIns="0" rIns="0" bIns="0" rtlCol="0" anchor="ctr"/>
          <a:lstStyle/>
          <a:p>
            <a:pPr marL="0" indent="0">
              <a:lnSpc>
                <a:spcPts val="5200"/>
              </a:lnSpc>
              <a:buNone/>
            </a:pPr>
            <a:r>
              <a:rPr lang="en-US" sz="4600" dirty="0">
                <a:solidFill>
                  <a:srgbClr val="FFFFFF"/>
                </a:solidFill>
                <a:latin typeface="Cambria" pitchFamily="34" charset="0"/>
                <a:ea typeface="Cambria" pitchFamily="34" charset="-122"/>
                <a:cs typeface="Cambria" pitchFamily="34" charset="-120"/>
              </a:rPr>
              <a:t>Agentic Software</a:t>
            </a:r>
            <a:endParaRPr lang="en-US" sz="4600" dirty="0"/>
          </a:p>
          <a:p>
            <a:pPr marL="0" indent="0">
              <a:lnSpc>
                <a:spcPts val="5200"/>
              </a:lnSpc>
              <a:buNone/>
            </a:pPr>
            <a:r>
              <a:rPr lang="en-US" sz="4600" dirty="0">
                <a:solidFill>
                  <a:srgbClr val="FFFFFF"/>
                </a:solidFill>
                <a:latin typeface="Cambria" pitchFamily="34" charset="0"/>
                <a:ea typeface="Cambria" pitchFamily="34" charset="-122"/>
                <a:cs typeface="Cambria" pitchFamily="34" charset="-120"/>
              </a:rPr>
              <a:t>Development</a:t>
            </a:r>
            <a:endParaRPr lang="en-US" sz="4600" dirty="0"/>
          </a:p>
        </p:txBody>
      </p:sp>
      <p:sp>
        <p:nvSpPr>
          <p:cNvPr id="5" name="Text 3"/>
          <p:cNvSpPr/>
          <p:nvPr/>
        </p:nvSpPr>
        <p:spPr>
          <a:xfrm>
            <a:off x="502920" y="2999232"/>
            <a:ext cx="7315200" cy="640080"/>
          </a:xfrm>
          <a:prstGeom prst="rect">
            <a:avLst/>
          </a:prstGeom>
          <a:noFill/>
          <a:ln/>
        </p:spPr>
        <p:txBody>
          <a:bodyPr wrap="square" lIns="0" tIns="0" rIns="0" bIns="0" rtlCol="0" anchor="ctr"/>
          <a:lstStyle/>
          <a:p>
            <a:pPr marL="0" indent="0">
              <a:buNone/>
            </a:pPr>
            <a:r>
              <a:rPr lang="en-US" sz="2800" i="1" dirty="0">
                <a:solidFill>
                  <a:srgbClr val="B2542F"/>
                </a:solidFill>
                <a:latin typeface="Cambria" pitchFamily="34" charset="0"/>
                <a:ea typeface="Cambria" pitchFamily="34" charset="-122"/>
                <a:cs typeface="Cambria" pitchFamily="34" charset="-120"/>
              </a:rPr>
              <a:t>Day 2: building with AI responsibly</a:t>
            </a:r>
            <a:endParaRPr lang="en-US" sz="2800" dirty="0"/>
          </a:p>
        </p:txBody>
      </p:sp>
      <p:sp>
        <p:nvSpPr>
          <p:cNvPr id="6" name="Text 4"/>
          <p:cNvSpPr/>
          <p:nvPr/>
        </p:nvSpPr>
        <p:spPr>
          <a:xfrm>
            <a:off x="502920" y="3977640"/>
            <a:ext cx="5943600" cy="640080"/>
          </a:xfrm>
          <a:prstGeom prst="rect">
            <a:avLst/>
          </a:prstGeom>
          <a:noFill/>
          <a:ln/>
        </p:spPr>
        <p:txBody>
          <a:bodyPr wrap="square" lIns="0" tIns="0" rIns="0" bIns="0" rtlCol="0" anchor="ctr"/>
          <a:lstStyle/>
          <a:p>
            <a:pPr marL="0" indent="0">
              <a:lnSpc>
                <a:spcPts val="2000"/>
              </a:lnSpc>
              <a:buNone/>
            </a:pPr>
            <a:r>
              <a:rPr lang="en-US" sz="1300" dirty="0">
                <a:solidFill>
                  <a:srgbClr val="FFFFFF"/>
                </a:solidFill>
                <a:latin typeface="Calibri" pitchFamily="34" charset="0"/>
                <a:ea typeface="Calibri" pitchFamily="34" charset="-122"/>
                <a:cs typeface="Calibri" pitchFamily="34" charset="-120"/>
              </a:rPr>
              <a:t>Tino Silfver  ·  Jukka Loikkanen</a:t>
            </a:r>
            <a:endParaRPr lang="en-US" sz="1300" dirty="0"/>
          </a:p>
          <a:p>
            <a:pPr marL="0" indent="0">
              <a:lnSpc>
                <a:spcPts val="2000"/>
              </a:lnSpc>
              <a:buNone/>
            </a:pPr>
            <a:r>
              <a:rPr lang="en-US" sz="1300" dirty="0">
                <a:solidFill>
                  <a:srgbClr val="CFC9C2"/>
                </a:solidFill>
                <a:latin typeface="Calibri" pitchFamily="34" charset="0"/>
                <a:ea typeface="Calibri" pitchFamily="34" charset="-122"/>
                <a:cs typeface="Calibri" pitchFamily="34" charset="-120"/>
              </a:rPr>
              <a:t>Stack: Java 25, Spring Boot 3.5</a:t>
            </a:r>
            <a:endParaRPr lang="en-US" sz="1300" dirty="0"/>
          </a:p>
        </p:txBody>
      </p:sp>
      <p:sp>
        <p:nvSpPr>
          <p:cNvPr id="7" name="Shape 5"/>
          <p:cNvSpPr/>
          <p:nvPr/>
        </p:nvSpPr>
        <p:spPr>
          <a:xfrm rot="2700000">
            <a:off x="7818120" y="4069080"/>
            <a:ext cx="182880" cy="182880"/>
          </a:xfrm>
          <a:prstGeom prst="rect">
            <a:avLst/>
          </a:prstGeom>
          <a:solidFill>
            <a:srgbClr val="B2542F"/>
          </a:solidFill>
          <a:ln/>
        </p:spPr>
        <p:txBody>
          <a:bodyPr/>
          <a:lstStyle/>
          <a:p>
            <a:endParaRPr lang="en-FI"/>
          </a:p>
        </p:txBody>
      </p:sp>
      <p:sp>
        <p:nvSpPr>
          <p:cNvPr id="8" name="Shape 6"/>
          <p:cNvSpPr/>
          <p:nvPr/>
        </p:nvSpPr>
        <p:spPr>
          <a:xfrm rot="2700000">
            <a:off x="8183880" y="4297680"/>
            <a:ext cx="118872" cy="118872"/>
          </a:xfrm>
          <a:prstGeom prst="rect">
            <a:avLst/>
          </a:prstGeom>
          <a:solidFill>
            <a:srgbClr val="5A5550"/>
          </a:solidFill>
          <a:ln/>
        </p:spPr>
        <p:txBody>
          <a:bodyPr/>
          <a:lstStyle/>
          <a:p>
            <a:endParaRPr lang="en-FI"/>
          </a:p>
        </p:txBody>
      </p:sp>
      <p:sp>
        <p:nvSpPr>
          <p:cNvPr id="9" name="Shape 7"/>
          <p:cNvSpPr/>
          <p:nvPr/>
        </p:nvSpPr>
        <p:spPr>
          <a:xfrm rot="2700000">
            <a:off x="7589520" y="4389120"/>
            <a:ext cx="91440" cy="91440"/>
          </a:xfrm>
          <a:prstGeom prst="rect">
            <a:avLst/>
          </a:prstGeom>
          <a:solidFill>
            <a:srgbClr val="5A5550"/>
          </a:solidFill>
          <a:ln/>
        </p:spPr>
        <p:txBody>
          <a:bodyPr/>
          <a:lstStyle/>
          <a:p>
            <a:endParaRPr lang="en-FI"/>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OPENING  ·  READINESS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Prerequisites for the labs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JDK 25 (java --version), Git, a GitHub account with Copilot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VS Code with Copilot, Copilot Chat and the Java pack</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lab repo cloned, and the build run once so it is green</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No Node, no npm, no database, no Docker (a feature)</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RUN CHECK-SETUP</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If unsure, run the check-setup script and resolve any FIX lines before we start.</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OPENING  ·  THE ARC</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Today's flow</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Morning: landscape, AI-assisted development, spec-driven development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Afternoon: one continuous project, specification to documentation</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Closing: agent workflows and the methodologies that formalise them</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OPENING  ·  WHERE ARE WE?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Situation check</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Where are we now with AI in development?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Where do we want to be?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is blocking us today?</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01</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The agentic</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AI landscape</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Azure OpenAI, Agent 365, the SRE Agent</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LANDSCAPE  ·  ONE PICTURE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The landscape in one picture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Models, platform, agents, governance: the layers stack</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Microsoft and Anthropic ecosystems side by side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Today's work (Copilot plus spec-driven development) sits in the middle</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LANDSCAPE  ·  PLATFORM</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Azure OpenAI and the Landing Zone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Models hosted inside your Azure tenant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Part of Topcon's Azure Landing Zone (in progress)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Data and governance stay within your perimeter</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WHY IT MATTERS</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The perimeter is the point in healthcare: a managed environment is what makes the two days responsible by default.</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LANDSCAPE  ·  OPERATIONS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Agent 365 and the Azure SRE Agent</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Agent 365: observe, govern and secure agents as identities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Works best with Microsoft E5</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SRE Agent: AI-assisted incident response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loop: SRE Agent opens an issue, Copilot proposes the fix</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LANDSCAPE  ·  TODAY</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What this means for today</a:t>
            </a:r>
            <a:endParaRPr lang="en-US" sz="3000" dirty="0"/>
          </a:p>
        </p:txBody>
      </p:sp>
      <p:sp>
        <p:nvSpPr>
          <p:cNvPr id="5" name="Shape 3"/>
          <p:cNvSpPr/>
          <p:nvPr/>
        </p:nvSpPr>
        <p:spPr>
          <a:xfrm>
            <a:off x="502920"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Shape 4"/>
          <p:cNvSpPr/>
          <p:nvPr/>
        </p:nvSpPr>
        <p:spPr>
          <a:xfrm>
            <a:off x="758952" y="1947672"/>
            <a:ext cx="457200" cy="457200"/>
          </a:xfrm>
          <a:prstGeom prst="ellipse">
            <a:avLst/>
          </a:prstGeom>
          <a:solidFill>
            <a:srgbClr val="1A1A1A"/>
          </a:solidFill>
          <a:ln/>
        </p:spPr>
        <p:txBody>
          <a:bodyPr/>
          <a:lstStyle/>
          <a:p>
            <a:endParaRPr lang="en-FI"/>
          </a:p>
        </p:txBody>
      </p:sp>
      <p:sp>
        <p:nvSpPr>
          <p:cNvPr id="7" name="Text 5"/>
          <p:cNvSpPr/>
          <p:nvPr/>
        </p:nvSpPr>
        <p:spPr>
          <a:xfrm>
            <a:off x="758952"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58952"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Build</a:t>
            </a:r>
            <a:endParaRPr lang="en-US" sz="1500" dirty="0"/>
          </a:p>
        </p:txBody>
      </p:sp>
      <p:sp>
        <p:nvSpPr>
          <p:cNvPr id="9" name="Text 7"/>
          <p:cNvSpPr/>
          <p:nvPr/>
        </p:nvSpPr>
        <p:spPr>
          <a:xfrm>
            <a:off x="758952"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Copilot and spec-driven development, today</a:t>
            </a:r>
            <a:endParaRPr lang="en-US" sz="1200" dirty="0"/>
          </a:p>
        </p:txBody>
      </p:sp>
      <p:sp>
        <p:nvSpPr>
          <p:cNvPr id="10" name="Shape 8"/>
          <p:cNvSpPr/>
          <p:nvPr/>
        </p:nvSpPr>
        <p:spPr>
          <a:xfrm>
            <a:off x="3300984"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1" name="Shape 9"/>
          <p:cNvSpPr/>
          <p:nvPr/>
        </p:nvSpPr>
        <p:spPr>
          <a:xfrm>
            <a:off x="3557016" y="1947672"/>
            <a:ext cx="457200" cy="457200"/>
          </a:xfrm>
          <a:prstGeom prst="ellipse">
            <a:avLst/>
          </a:prstGeom>
          <a:solidFill>
            <a:srgbClr val="1A1A1A"/>
          </a:solidFill>
          <a:ln/>
        </p:spPr>
        <p:txBody>
          <a:bodyPr/>
          <a:lstStyle/>
          <a:p>
            <a:endParaRPr lang="en-FI"/>
          </a:p>
        </p:txBody>
      </p:sp>
      <p:sp>
        <p:nvSpPr>
          <p:cNvPr id="12" name="Text 10"/>
          <p:cNvSpPr/>
          <p:nvPr/>
        </p:nvSpPr>
        <p:spPr>
          <a:xfrm>
            <a:off x="3557016"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57016"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Run</a:t>
            </a:r>
            <a:endParaRPr lang="en-US" sz="1500" dirty="0"/>
          </a:p>
        </p:txBody>
      </p:sp>
      <p:sp>
        <p:nvSpPr>
          <p:cNvPr id="14" name="Text 12"/>
          <p:cNvSpPr/>
          <p:nvPr/>
        </p:nvSpPr>
        <p:spPr>
          <a:xfrm>
            <a:off x="3557016"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SRE Agent and operations, the next win</a:t>
            </a:r>
            <a:endParaRPr lang="en-US" sz="1200" dirty="0"/>
          </a:p>
        </p:txBody>
      </p:sp>
      <p:sp>
        <p:nvSpPr>
          <p:cNvPr id="15" name="Shape 13"/>
          <p:cNvSpPr/>
          <p:nvPr/>
        </p:nvSpPr>
        <p:spPr>
          <a:xfrm>
            <a:off x="6099048"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6" name="Shape 14"/>
          <p:cNvSpPr/>
          <p:nvPr/>
        </p:nvSpPr>
        <p:spPr>
          <a:xfrm>
            <a:off x="6355080" y="1947672"/>
            <a:ext cx="457200" cy="457200"/>
          </a:xfrm>
          <a:prstGeom prst="ellipse">
            <a:avLst/>
          </a:prstGeom>
          <a:solidFill>
            <a:srgbClr val="1A1A1A"/>
          </a:solidFill>
          <a:ln/>
        </p:spPr>
        <p:txBody>
          <a:bodyPr/>
          <a:lstStyle/>
          <a:p>
            <a:endParaRPr lang="en-FI"/>
          </a:p>
        </p:txBody>
      </p:sp>
      <p:sp>
        <p:nvSpPr>
          <p:cNvPr id="17" name="Text 15"/>
          <p:cNvSpPr/>
          <p:nvPr/>
        </p:nvSpPr>
        <p:spPr>
          <a:xfrm>
            <a:off x="6355080"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355080"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Govern</a:t>
            </a:r>
            <a:endParaRPr lang="en-US" sz="1500" dirty="0"/>
          </a:p>
        </p:txBody>
      </p:sp>
      <p:sp>
        <p:nvSpPr>
          <p:cNvPr id="19" name="Text 17"/>
          <p:cNvSpPr/>
          <p:nvPr/>
        </p:nvSpPr>
        <p:spPr>
          <a:xfrm>
            <a:off x="6355080"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Agent 365 across the lifecycle</a:t>
            </a:r>
            <a:endParaRPr lang="en-US" sz="1200" dirty="0"/>
          </a:p>
        </p:txBody>
      </p:sp>
      <p:sp>
        <p:nvSpPr>
          <p:cNvPr id="20" name="Text 1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21" name="Text 1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02</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AI-assisted</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development</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GitHub Copilot foundations and demos</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EVOLUTION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How we got here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From autocomplete to chat to agents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constant: a human who understands the code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variable: how much the tool does per step</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THE TOOL</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GitHub Copilot in VS Code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Inline completion, Copilot Chat, agent modes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Choosing the right mode for the task</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model behind Copilot is a choice, not a constant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Today's driver for the whole project</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MODEL CHOICE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AI models are not interchangeable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model behind Copilot is a choice; results differ</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Quality, speed, context window and cost vary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Know which model you are using before blaming the tool</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Availability is now a compliance and geopolitical variable</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NEWS, RE-VERIFY THE MORNING OF</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A June 2026 US export directive scoped to foreign nationals suspended Anthropic's two most capable models for all customers. The day's tooling (Copilot on Sonnet 4.6 or Opus 4.8) is unaffected.</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CONTEXT</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Context: what Copilot sees</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Open files, selection, workspace signals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What it cannot see, and why that matters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Steer context deliberately rather than hoping</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Keep the codebase index current; a stale index weakens answers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THE WINDOW</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Token usage and the context window</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fixed context window; everything competes for it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Instructions, tools, open files, prior messages, results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More in the window is not better; it crowds out what matters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Habits: keep relevant files open, start fresh, compact threads</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AGENTS PAY TO READ</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Well-structured docs cost fewer tokens, so quality and cost pull the same way. Ties straight to Topcon's documentation reality.</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CUSTOMIZATION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Copilot is configurable, beyond the conventions file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Instructions: always-on rules (the conventions file we use)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Prompts: reusable saved prompts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Skills: folders of instructions, scripts and resources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Agents: custom personas (built-in Ask and Plan, plus custom)</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Hooks, Plugins, and MCP Servers for external tools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PROMPTING</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Prompting for code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State intent, constraints and examples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Small, verifiable steps beat large unchecked blocks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Iterate: review, correct, continue</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OWNERSHIP</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You are the reviewer</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Hallucinated APIs and packages happen</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Copy-paste-commit without review is the cardinal sin</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Unattended agent loops need oversight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Copilot did it is not a review</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Ownership is the absolute; disclosure is contextual</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COMMIT MESSAGES</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Copilot can draft a commit message from the diff. Treat it as a draft: add the spec ID it cannot see. The co-authored-by trailer stays off, by repo policy.</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51</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AGENT MODES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Ask, Plan, Agent</a:t>
            </a:r>
            <a:endParaRPr lang="en-US" sz="3000" dirty="0"/>
          </a:p>
        </p:txBody>
      </p:sp>
      <p:sp>
        <p:nvSpPr>
          <p:cNvPr id="5" name="Shape 3"/>
          <p:cNvSpPr/>
          <p:nvPr/>
        </p:nvSpPr>
        <p:spPr>
          <a:xfrm>
            <a:off x="502920"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Shape 4"/>
          <p:cNvSpPr/>
          <p:nvPr/>
        </p:nvSpPr>
        <p:spPr>
          <a:xfrm>
            <a:off x="758952" y="1947672"/>
            <a:ext cx="457200" cy="457200"/>
          </a:xfrm>
          <a:prstGeom prst="ellipse">
            <a:avLst/>
          </a:prstGeom>
          <a:solidFill>
            <a:srgbClr val="1A1A1A"/>
          </a:solidFill>
          <a:ln/>
        </p:spPr>
        <p:txBody>
          <a:bodyPr/>
          <a:lstStyle/>
          <a:p>
            <a:endParaRPr lang="en-FI"/>
          </a:p>
        </p:txBody>
      </p:sp>
      <p:sp>
        <p:nvSpPr>
          <p:cNvPr id="7" name="Text 5"/>
          <p:cNvSpPr/>
          <p:nvPr/>
        </p:nvSpPr>
        <p:spPr>
          <a:xfrm>
            <a:off x="758952"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58952"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Ask</a:t>
            </a:r>
            <a:endParaRPr lang="en-US" sz="1500" dirty="0"/>
          </a:p>
        </p:txBody>
      </p:sp>
      <p:sp>
        <p:nvSpPr>
          <p:cNvPr id="9" name="Text 7"/>
          <p:cNvSpPr/>
          <p:nvPr/>
        </p:nvSpPr>
        <p:spPr>
          <a:xfrm>
            <a:off x="758952"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Read-only exploration, no changes</a:t>
            </a:r>
            <a:endParaRPr lang="en-US" sz="1200" dirty="0"/>
          </a:p>
        </p:txBody>
      </p:sp>
      <p:sp>
        <p:nvSpPr>
          <p:cNvPr id="10" name="Shape 8"/>
          <p:cNvSpPr/>
          <p:nvPr/>
        </p:nvSpPr>
        <p:spPr>
          <a:xfrm>
            <a:off x="3300984"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1" name="Shape 9"/>
          <p:cNvSpPr/>
          <p:nvPr/>
        </p:nvSpPr>
        <p:spPr>
          <a:xfrm>
            <a:off x="3557016" y="1947672"/>
            <a:ext cx="457200" cy="457200"/>
          </a:xfrm>
          <a:prstGeom prst="ellipse">
            <a:avLst/>
          </a:prstGeom>
          <a:solidFill>
            <a:srgbClr val="1A1A1A"/>
          </a:solidFill>
          <a:ln/>
        </p:spPr>
        <p:txBody>
          <a:bodyPr/>
          <a:lstStyle/>
          <a:p>
            <a:endParaRPr lang="en-FI"/>
          </a:p>
        </p:txBody>
      </p:sp>
      <p:sp>
        <p:nvSpPr>
          <p:cNvPr id="12" name="Text 10"/>
          <p:cNvSpPr/>
          <p:nvPr/>
        </p:nvSpPr>
        <p:spPr>
          <a:xfrm>
            <a:off x="3557016"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57016"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Plan</a:t>
            </a:r>
            <a:endParaRPr lang="en-US" sz="1500" dirty="0"/>
          </a:p>
        </p:txBody>
      </p:sp>
      <p:sp>
        <p:nvSpPr>
          <p:cNvPr id="14" name="Text 12"/>
          <p:cNvSpPr/>
          <p:nvPr/>
        </p:nvSpPr>
        <p:spPr>
          <a:xfrm>
            <a:off x="3557016"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Produce an implementation plan from a spec</a:t>
            </a:r>
            <a:endParaRPr lang="en-US" sz="1200" dirty="0"/>
          </a:p>
        </p:txBody>
      </p:sp>
      <p:sp>
        <p:nvSpPr>
          <p:cNvPr id="15" name="Shape 13"/>
          <p:cNvSpPr/>
          <p:nvPr/>
        </p:nvSpPr>
        <p:spPr>
          <a:xfrm>
            <a:off x="6099048"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6" name="Shape 14"/>
          <p:cNvSpPr/>
          <p:nvPr/>
        </p:nvSpPr>
        <p:spPr>
          <a:xfrm>
            <a:off x="6355080" y="1947672"/>
            <a:ext cx="457200" cy="457200"/>
          </a:xfrm>
          <a:prstGeom prst="ellipse">
            <a:avLst/>
          </a:prstGeom>
          <a:solidFill>
            <a:srgbClr val="1A1A1A"/>
          </a:solidFill>
          <a:ln/>
        </p:spPr>
        <p:txBody>
          <a:bodyPr/>
          <a:lstStyle/>
          <a:p>
            <a:endParaRPr lang="en-FI"/>
          </a:p>
        </p:txBody>
      </p:sp>
      <p:sp>
        <p:nvSpPr>
          <p:cNvPr id="17" name="Text 15"/>
          <p:cNvSpPr/>
          <p:nvPr/>
        </p:nvSpPr>
        <p:spPr>
          <a:xfrm>
            <a:off x="6355080"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355080"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Agent</a:t>
            </a:r>
            <a:endParaRPr lang="en-US" sz="1500" dirty="0"/>
          </a:p>
        </p:txBody>
      </p:sp>
      <p:sp>
        <p:nvSpPr>
          <p:cNvPr id="19" name="Text 17"/>
          <p:cNvSpPr/>
          <p:nvPr/>
        </p:nvSpPr>
        <p:spPr>
          <a:xfrm>
            <a:off x="6355080"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The supervised, multi-step build</a:t>
            </a:r>
            <a:endParaRPr lang="en-US" sz="1200" dirty="0"/>
          </a:p>
        </p:txBody>
      </p:sp>
      <p:sp>
        <p:nvSpPr>
          <p:cNvPr id="20" name="Text 1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21" name="Text 1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NEXT TIER</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Copilot Enterprise, briefly</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Repo-level context, PR automation, governance features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Requires the Enterprise tier</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Worth knowing what the next step offers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DEMO SETUP</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The demo setup, shown not just described</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portal UI in its starting state: an empty page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structure: src/, docs/specs/, compliance-requirements.md, legacy/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conventions file is the quiet authority behind every generation</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This repo is what you clone for the afternoon</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3  ·  LIVE DEMONSTRATIONS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Demos: code from requirements</a:t>
            </a:r>
            <a:endParaRPr lang="en-US" sz="3000" dirty="0"/>
          </a:p>
        </p:txBody>
      </p:sp>
      <p:sp>
        <p:nvSpPr>
          <p:cNvPr id="5" name="Shape 3"/>
          <p:cNvSpPr/>
          <p:nvPr/>
        </p:nvSpPr>
        <p:spPr>
          <a:xfrm>
            <a:off x="502920"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Shape 4"/>
          <p:cNvSpPr/>
          <p:nvPr/>
        </p:nvSpPr>
        <p:spPr>
          <a:xfrm>
            <a:off x="758952" y="1947672"/>
            <a:ext cx="457200" cy="457200"/>
          </a:xfrm>
          <a:prstGeom prst="ellipse">
            <a:avLst/>
          </a:prstGeom>
          <a:solidFill>
            <a:srgbClr val="1A1A1A"/>
          </a:solidFill>
          <a:ln/>
        </p:spPr>
        <p:txBody>
          <a:bodyPr/>
          <a:lstStyle/>
          <a:p>
            <a:endParaRPr lang="en-FI"/>
          </a:p>
        </p:txBody>
      </p:sp>
      <p:sp>
        <p:nvSpPr>
          <p:cNvPr id="7" name="Text 5"/>
          <p:cNvSpPr/>
          <p:nvPr/>
        </p:nvSpPr>
        <p:spPr>
          <a:xfrm>
            <a:off x="758952"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58952"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3.1</a:t>
            </a:r>
            <a:endParaRPr lang="en-US" sz="1500" dirty="0"/>
          </a:p>
        </p:txBody>
      </p:sp>
      <p:sp>
        <p:nvSpPr>
          <p:cNvPr id="9" name="Text 7"/>
          <p:cNvSpPr/>
          <p:nvPr/>
        </p:nvSpPr>
        <p:spPr>
          <a:xfrm>
            <a:off x="758952"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Generate code from requirements, production code only</a:t>
            </a:r>
            <a:endParaRPr lang="en-US" sz="1200" dirty="0"/>
          </a:p>
        </p:txBody>
      </p:sp>
      <p:sp>
        <p:nvSpPr>
          <p:cNvPr id="10" name="Shape 8"/>
          <p:cNvSpPr/>
          <p:nvPr/>
        </p:nvSpPr>
        <p:spPr>
          <a:xfrm>
            <a:off x="3300984"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1" name="Shape 9"/>
          <p:cNvSpPr/>
          <p:nvPr/>
        </p:nvSpPr>
        <p:spPr>
          <a:xfrm>
            <a:off x="3557016" y="1947672"/>
            <a:ext cx="457200" cy="457200"/>
          </a:xfrm>
          <a:prstGeom prst="ellipse">
            <a:avLst/>
          </a:prstGeom>
          <a:solidFill>
            <a:srgbClr val="1A1A1A"/>
          </a:solidFill>
          <a:ln/>
        </p:spPr>
        <p:txBody>
          <a:bodyPr/>
          <a:lstStyle/>
          <a:p>
            <a:endParaRPr lang="en-FI"/>
          </a:p>
        </p:txBody>
      </p:sp>
      <p:sp>
        <p:nvSpPr>
          <p:cNvPr id="12" name="Text 10"/>
          <p:cNvSpPr/>
          <p:nvPr/>
        </p:nvSpPr>
        <p:spPr>
          <a:xfrm>
            <a:off x="3557016"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57016"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3.2</a:t>
            </a:r>
            <a:endParaRPr lang="en-US" sz="1500" dirty="0"/>
          </a:p>
        </p:txBody>
      </p:sp>
      <p:sp>
        <p:nvSpPr>
          <p:cNvPr id="14" name="Text 12"/>
          <p:cNvSpPr/>
          <p:nvPr/>
        </p:nvSpPr>
        <p:spPr>
          <a:xfrm>
            <a:off x="3557016"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Refactor legacy code, 2006 to 2026</a:t>
            </a:r>
            <a:endParaRPr lang="en-US" sz="1200" dirty="0"/>
          </a:p>
        </p:txBody>
      </p:sp>
      <p:sp>
        <p:nvSpPr>
          <p:cNvPr id="15" name="Shape 13"/>
          <p:cNvSpPr/>
          <p:nvPr/>
        </p:nvSpPr>
        <p:spPr>
          <a:xfrm>
            <a:off x="6099048"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6" name="Shape 14"/>
          <p:cNvSpPr/>
          <p:nvPr/>
        </p:nvSpPr>
        <p:spPr>
          <a:xfrm>
            <a:off x="6355080" y="1947672"/>
            <a:ext cx="457200" cy="457200"/>
          </a:xfrm>
          <a:prstGeom prst="ellipse">
            <a:avLst/>
          </a:prstGeom>
          <a:solidFill>
            <a:srgbClr val="1A1A1A"/>
          </a:solidFill>
          <a:ln/>
        </p:spPr>
        <p:txBody>
          <a:bodyPr/>
          <a:lstStyle/>
          <a:p>
            <a:endParaRPr lang="en-FI"/>
          </a:p>
        </p:txBody>
      </p:sp>
      <p:sp>
        <p:nvSpPr>
          <p:cNvPr id="17" name="Text 15"/>
          <p:cNvSpPr/>
          <p:nvPr/>
        </p:nvSpPr>
        <p:spPr>
          <a:xfrm>
            <a:off x="6355080"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355080"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3.3</a:t>
            </a:r>
            <a:endParaRPr lang="en-US" sz="1500" dirty="0"/>
          </a:p>
        </p:txBody>
      </p:sp>
      <p:sp>
        <p:nvSpPr>
          <p:cNvPr id="19" name="Text 17"/>
          <p:cNvSpPr/>
          <p:nvPr/>
        </p:nvSpPr>
        <p:spPr>
          <a:xfrm>
            <a:off x="6355080"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Generate unit tests, fulfilling the convention</a:t>
            </a:r>
            <a:endParaRPr lang="en-US" sz="1200" dirty="0"/>
          </a:p>
        </p:txBody>
      </p:sp>
      <p:sp>
        <p:nvSpPr>
          <p:cNvPr id="20" name="Text 1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21" name="Text 1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Coffee break</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15 minutes  ·  10:30 to 10:45</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56</a:t>
            </a:r>
            <a:endParaRPr lang="en-US" sz="800" dirty="0"/>
          </a:p>
        </p:txBody>
      </p:sp>
      <p:pic>
        <p:nvPicPr>
          <p:cNvPr id="8" name="Picture 7" descr="coffee.png"/>
          <p:cNvPicPr>
            <a:picLocks noChangeAspect="1"/>
          </p:cNvPicPr>
          <p:nvPr/>
        </p:nvPicPr>
        <p:blipFill>
          <a:blip r:embed="rId3"/>
          <a:stretch>
            <a:fillRect/>
          </a:stretch>
        </p:blipFill>
        <p:spPr>
          <a:xfrm>
            <a:off x="502920" y="914400"/>
            <a:ext cx="1554480" cy="155448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03</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Spec-driven</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development</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Why the specification, not the code, is the source of truth</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57</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rot="2700000">
            <a:off x="502920" y="914400"/>
            <a:ext cx="182880" cy="182880"/>
          </a:xfrm>
          <a:prstGeom prst="rect">
            <a:avLst/>
          </a:prstGeom>
          <a:solidFill>
            <a:srgbClr val="B2542F"/>
          </a:solidFill>
          <a:ln/>
        </p:spPr>
        <p:txBody>
          <a:bodyPr/>
          <a:lstStyle/>
          <a:p>
            <a:endParaRPr lang="en-FI"/>
          </a:p>
        </p:txBody>
      </p:sp>
      <p:sp>
        <p:nvSpPr>
          <p:cNvPr id="3" name="Text 1"/>
          <p:cNvSpPr/>
          <p:nvPr/>
        </p:nvSpPr>
        <p:spPr>
          <a:xfrm>
            <a:off x="502920" y="1417320"/>
            <a:ext cx="8138160" cy="1737360"/>
          </a:xfrm>
          <a:prstGeom prst="rect">
            <a:avLst/>
          </a:prstGeom>
          <a:noFill/>
          <a:ln/>
        </p:spPr>
        <p:txBody>
          <a:bodyPr wrap="square" lIns="0" tIns="0" rIns="0" bIns="0" rtlCol="0" anchor="ctr"/>
          <a:lstStyle/>
          <a:p>
            <a:pPr marL="0" indent="0">
              <a:lnSpc>
                <a:spcPts val="5000"/>
              </a:lnSpc>
              <a:buNone/>
            </a:pPr>
            <a:r>
              <a:rPr lang="en-US" sz="4200" i="1" dirty="0">
                <a:solidFill>
                  <a:srgbClr val="FFFFFF"/>
                </a:solidFill>
                <a:latin typeface="Cambria" pitchFamily="34" charset="0"/>
                <a:ea typeface="Cambria" pitchFamily="34" charset="-122"/>
                <a:cs typeface="Cambria" pitchFamily="34" charset="-120"/>
              </a:rPr>
              <a:t>AI amplifies whatever</a:t>
            </a:r>
            <a:endParaRPr lang="en-US" sz="4200" dirty="0"/>
          </a:p>
          <a:p>
            <a:pPr marL="0" indent="0">
              <a:lnSpc>
                <a:spcPts val="5000"/>
              </a:lnSpc>
              <a:buNone/>
            </a:pPr>
            <a:r>
              <a:rPr lang="en-US" sz="4200" i="1" dirty="0">
                <a:solidFill>
                  <a:srgbClr val="FFFFFF"/>
                </a:solidFill>
                <a:latin typeface="Cambria" pitchFamily="34" charset="0"/>
                <a:ea typeface="Cambria" pitchFamily="34" charset="-122"/>
                <a:cs typeface="Cambria" pitchFamily="34" charset="-120"/>
              </a:rPr>
              <a:t>you feed it.</a:t>
            </a:r>
            <a:endParaRPr lang="en-US" sz="4200" dirty="0"/>
          </a:p>
        </p:txBody>
      </p:sp>
      <p:sp>
        <p:nvSpPr>
          <p:cNvPr id="4" name="Text 2"/>
          <p:cNvSpPr/>
          <p:nvPr/>
        </p:nvSpPr>
        <p:spPr>
          <a:xfrm>
            <a:off x="502920" y="3383280"/>
            <a:ext cx="7315200" cy="457200"/>
          </a:xfrm>
          <a:prstGeom prst="rect">
            <a:avLst/>
          </a:prstGeom>
          <a:noFill/>
          <a:ln/>
        </p:spPr>
        <p:txBody>
          <a:bodyPr wrap="square" lIns="0" tIns="0" rIns="0" bIns="0" rtlCol="0" anchor="ctr"/>
          <a:lstStyle/>
          <a:p>
            <a:pPr marL="0" indent="0">
              <a:buNone/>
            </a:pPr>
            <a:r>
              <a:rPr lang="en-US" sz="1600" dirty="0">
                <a:solidFill>
                  <a:srgbClr val="B2542F"/>
                </a:solidFill>
                <a:latin typeface="Calibri" pitchFamily="34" charset="0"/>
                <a:ea typeface="Calibri" pitchFamily="34" charset="-122"/>
                <a:cs typeface="Calibri" pitchFamily="34" charset="-120"/>
              </a:rPr>
              <a:t>The fix is upstream, not in the prompt.</a:t>
            </a:r>
            <a:endParaRPr lang="en-US" sz="1600" dirty="0"/>
          </a:p>
        </p:txBody>
      </p:sp>
      <p:sp>
        <p:nvSpPr>
          <p:cNvPr id="5" name="Text 3"/>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6" name="Text 4"/>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58</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THE PRINCIPLE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The specification is the source of truth</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Write the spec first, generate against it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Code becomes an output; the spec is the maintained artifact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Reviewable: you check intent, not just generated lines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Repeatable, and traceable</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WHY IT MATTERS HERE</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In a regulated context the spec-to-code trail is audit-ready by construction, stronger than commit history alone.</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59</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THE FLOW</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Spec, Plan, Tasks, Code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Spec: what and why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Plan: how, in checkable steps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Tasks: units small enough to verify</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Code: generated, reviewed, tested</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60</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DOCUMENTATION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AI-ready documentation</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Test-ready: clear enough to generate tests from</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Operating: usable at run and maintenance time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Structured for retrieval: agents read structure, not vibes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61</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REALITY</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Topcon's documentation reality</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Control documents in SharePoint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Technical documents in Confluence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split that is hard for agents to traverse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Structure drives token cost: agents pay to read</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62</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TRACEABILITY</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Traceability is audit-ready</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written spec and decision trail beats commit history alone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In a regulated context this is a strength, not overhead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same habit spec-driven development already gives you</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MDR AND HIPAA, AS A SIMULATION</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MDR for lifecycle traceability, HIPAA for audit-trail discipline. A training simulation, not legal advice. The portal manages devices, never patients.</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63</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LIVE DEMONSTRATIONS</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One feature, built three ways</a:t>
            </a:r>
            <a:endParaRPr lang="en-US" sz="3000" dirty="0"/>
          </a:p>
        </p:txBody>
      </p:sp>
      <p:sp>
        <p:nvSpPr>
          <p:cNvPr id="5" name="Shape 3"/>
          <p:cNvSpPr/>
          <p:nvPr/>
        </p:nvSpPr>
        <p:spPr>
          <a:xfrm>
            <a:off x="502920"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Shape 4"/>
          <p:cNvSpPr/>
          <p:nvPr/>
        </p:nvSpPr>
        <p:spPr>
          <a:xfrm>
            <a:off x="758952" y="1947672"/>
            <a:ext cx="457200" cy="457200"/>
          </a:xfrm>
          <a:prstGeom prst="ellipse">
            <a:avLst/>
          </a:prstGeom>
          <a:solidFill>
            <a:srgbClr val="1A1A1A"/>
          </a:solidFill>
          <a:ln/>
        </p:spPr>
        <p:txBody>
          <a:bodyPr/>
          <a:lstStyle/>
          <a:p>
            <a:endParaRPr lang="en-FI"/>
          </a:p>
        </p:txBody>
      </p:sp>
      <p:sp>
        <p:nvSpPr>
          <p:cNvPr id="7" name="Text 5"/>
          <p:cNvSpPr/>
          <p:nvPr/>
        </p:nvSpPr>
        <p:spPr>
          <a:xfrm>
            <a:off x="758952"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58952"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8081</a:t>
            </a:r>
            <a:endParaRPr lang="en-US" sz="1500" dirty="0"/>
          </a:p>
        </p:txBody>
      </p:sp>
      <p:sp>
        <p:nvSpPr>
          <p:cNvPr id="9" name="Text 7"/>
          <p:cNvSpPr/>
          <p:nvPr/>
        </p:nvSpPr>
        <p:spPr>
          <a:xfrm>
            <a:off x="758952"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Good spec plus conventions: correct, only the defined columns</a:t>
            </a:r>
            <a:endParaRPr lang="en-US" sz="1200" dirty="0"/>
          </a:p>
        </p:txBody>
      </p:sp>
      <p:sp>
        <p:nvSpPr>
          <p:cNvPr id="10" name="Shape 8"/>
          <p:cNvSpPr/>
          <p:nvPr/>
        </p:nvSpPr>
        <p:spPr>
          <a:xfrm>
            <a:off x="3300984"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1" name="Shape 9"/>
          <p:cNvSpPr/>
          <p:nvPr/>
        </p:nvSpPr>
        <p:spPr>
          <a:xfrm>
            <a:off x="3557016" y="1947672"/>
            <a:ext cx="457200" cy="457200"/>
          </a:xfrm>
          <a:prstGeom prst="ellipse">
            <a:avLst/>
          </a:prstGeom>
          <a:solidFill>
            <a:srgbClr val="1A1A1A"/>
          </a:solidFill>
          <a:ln/>
        </p:spPr>
        <p:txBody>
          <a:bodyPr/>
          <a:lstStyle/>
          <a:p>
            <a:endParaRPr lang="en-FI"/>
          </a:p>
        </p:txBody>
      </p:sp>
      <p:sp>
        <p:nvSpPr>
          <p:cNvPr id="12" name="Text 10"/>
          <p:cNvSpPr/>
          <p:nvPr/>
        </p:nvSpPr>
        <p:spPr>
          <a:xfrm>
            <a:off x="3557016"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57016"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8082</a:t>
            </a:r>
            <a:endParaRPr lang="en-US" sz="1500" dirty="0"/>
          </a:p>
        </p:txBody>
      </p:sp>
      <p:sp>
        <p:nvSpPr>
          <p:cNvPr id="14" name="Text 12"/>
          <p:cNvSpPr/>
          <p:nvPr/>
        </p:nvSpPr>
        <p:spPr>
          <a:xfrm>
            <a:off x="3557016"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Poor prompt plus conventions: drifts, invented columns</a:t>
            </a:r>
            <a:endParaRPr lang="en-US" sz="1200" dirty="0"/>
          </a:p>
        </p:txBody>
      </p:sp>
      <p:sp>
        <p:nvSpPr>
          <p:cNvPr id="15" name="Shape 13"/>
          <p:cNvSpPr/>
          <p:nvPr/>
        </p:nvSpPr>
        <p:spPr>
          <a:xfrm>
            <a:off x="6099048"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6" name="Shape 14"/>
          <p:cNvSpPr/>
          <p:nvPr/>
        </p:nvSpPr>
        <p:spPr>
          <a:xfrm>
            <a:off x="6355080" y="1947672"/>
            <a:ext cx="457200" cy="457200"/>
          </a:xfrm>
          <a:prstGeom prst="ellipse">
            <a:avLst/>
          </a:prstGeom>
          <a:solidFill>
            <a:srgbClr val="1A1A1A"/>
          </a:solidFill>
          <a:ln/>
        </p:spPr>
        <p:txBody>
          <a:bodyPr/>
          <a:lstStyle/>
          <a:p>
            <a:endParaRPr lang="en-FI"/>
          </a:p>
        </p:txBody>
      </p:sp>
      <p:sp>
        <p:nvSpPr>
          <p:cNvPr id="17" name="Text 15"/>
          <p:cNvSpPr/>
          <p:nvPr/>
        </p:nvSpPr>
        <p:spPr>
          <a:xfrm>
            <a:off x="6355080"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355080"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8083</a:t>
            </a:r>
            <a:endParaRPr lang="en-US" sz="1500" dirty="0"/>
          </a:p>
        </p:txBody>
      </p:sp>
      <p:sp>
        <p:nvSpPr>
          <p:cNvPr id="19" name="Text 17"/>
          <p:cNvSpPr/>
          <p:nvPr/>
        </p:nvSpPr>
        <p:spPr>
          <a:xfrm>
            <a:off x="6355080"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Poor prompt, no conventions: breaks loudly, invented DB</a:t>
            </a:r>
            <a:endParaRPr lang="en-US" sz="1200" dirty="0"/>
          </a:p>
        </p:txBody>
      </p:sp>
      <p:sp>
        <p:nvSpPr>
          <p:cNvPr id="20" name="Text 1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21" name="Text 1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64</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MODULE 4  ·  THE PROJECT</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This afternoon: one project, end to end</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Service Operations Portal: assets, maintenance, work orders, notes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Lightweight web app, in-memory data, VS Code plus Copilot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Labs 3 to 7: specify, plan, implement, extend, document, design</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04</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One continuous</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project</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Specify, plan, implement, extend, document</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66</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3  ·  SERVICE OPERATIONS PORTAL</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Create the specification</a:t>
            </a:r>
            <a:endParaRPr lang="en-US" sz="3000" dirty="0"/>
          </a:p>
        </p:txBody>
      </p:sp>
      <p:sp>
        <p:nvSpPr>
          <p:cNvPr id="5" name="Text 3"/>
          <p:cNvSpPr/>
          <p:nvPr/>
        </p:nvSpPr>
        <p:spPr>
          <a:xfrm>
            <a:off x="502920" y="1645920"/>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005840" y="1664208"/>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Open the prepared skeleton spec and conventions</a:t>
            </a:r>
            <a:endParaRPr lang="en-US" sz="1400" dirty="0"/>
          </a:p>
        </p:txBody>
      </p:sp>
      <p:sp>
        <p:nvSpPr>
          <p:cNvPr id="7" name="Text 5"/>
          <p:cNvSpPr/>
          <p:nvPr/>
        </p:nvSpPr>
        <p:spPr>
          <a:xfrm>
            <a:off x="502920" y="2304288"/>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2</a:t>
            </a:r>
            <a:endParaRPr lang="en-US" sz="2000" dirty="0"/>
          </a:p>
        </p:txBody>
      </p:sp>
      <p:sp>
        <p:nvSpPr>
          <p:cNvPr id="8" name="Text 6"/>
          <p:cNvSpPr/>
          <p:nvPr/>
        </p:nvSpPr>
        <p:spPr>
          <a:xfrm>
            <a:off x="1005840" y="2322576"/>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Refine the user story and acceptance criteria</a:t>
            </a:r>
            <a:endParaRPr lang="en-US" sz="1400" dirty="0"/>
          </a:p>
        </p:txBody>
      </p:sp>
      <p:sp>
        <p:nvSpPr>
          <p:cNvPr id="9" name="Text 7"/>
          <p:cNvSpPr/>
          <p:nvPr/>
        </p:nvSpPr>
        <p:spPr>
          <a:xfrm>
            <a:off x="502920" y="2962656"/>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3</a:t>
            </a:r>
            <a:endParaRPr lang="en-US" sz="2000" dirty="0"/>
          </a:p>
        </p:txBody>
      </p:sp>
      <p:sp>
        <p:nvSpPr>
          <p:cNvPr id="10" name="Text 8"/>
          <p:cNvSpPr/>
          <p:nvPr/>
        </p:nvSpPr>
        <p:spPr>
          <a:xfrm>
            <a:off x="1005840" y="2980944"/>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State non-functional requirements explicitly</a:t>
            </a:r>
            <a:endParaRPr lang="en-US" sz="1400" dirty="0"/>
          </a:p>
        </p:txBody>
      </p:sp>
      <p:sp>
        <p:nvSpPr>
          <p:cNvPr id="11" name="Text 9"/>
          <p:cNvSpPr/>
          <p:nvPr/>
        </p:nvSpPr>
        <p:spPr>
          <a:xfrm>
            <a:off x="502920" y="3621024"/>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4</a:t>
            </a:r>
            <a:endParaRPr lang="en-US" sz="2000" dirty="0"/>
          </a:p>
        </p:txBody>
      </p:sp>
      <p:sp>
        <p:nvSpPr>
          <p:cNvPr id="12" name="Text 10"/>
          <p:cNvSpPr/>
          <p:nvPr/>
        </p:nvSpPr>
        <p:spPr>
          <a:xfrm>
            <a:off x="1005840" y="3639312"/>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Write the test scenarios</a:t>
            </a:r>
            <a:endParaRPr lang="en-US" sz="1400" dirty="0"/>
          </a:p>
        </p:txBody>
      </p:sp>
      <p:sp>
        <p:nvSpPr>
          <p:cNvPr id="13" name="Shape 11"/>
          <p:cNvSpPr/>
          <p:nvPr/>
        </p:nvSpPr>
        <p:spPr>
          <a:xfrm>
            <a:off x="5715000" y="1645920"/>
            <a:ext cx="2926080" cy="2606040"/>
          </a:xfrm>
          <a:prstGeom prst="roundRect">
            <a:avLst>
              <a:gd name="adj" fmla="val 2105"/>
            </a:avLst>
          </a:prstGeom>
          <a:solidFill>
            <a:srgbClr val="1A1A1A"/>
          </a:solidFill>
          <a:ln/>
        </p:spPr>
        <p:txBody>
          <a:bodyPr/>
          <a:lstStyle/>
          <a:p>
            <a:endParaRPr lang="en-FI"/>
          </a:p>
        </p:txBody>
      </p:sp>
      <p:sp>
        <p:nvSpPr>
          <p:cNvPr id="14" name="Shape 12"/>
          <p:cNvSpPr/>
          <p:nvPr/>
        </p:nvSpPr>
        <p:spPr>
          <a:xfrm rot="2700000">
            <a:off x="5989320" y="1929384"/>
            <a:ext cx="118872" cy="118872"/>
          </a:xfrm>
          <a:prstGeom prst="rect">
            <a:avLst/>
          </a:prstGeom>
          <a:solidFill>
            <a:srgbClr val="B2542F"/>
          </a:solidFill>
          <a:ln/>
        </p:spPr>
        <p:txBody>
          <a:bodyPr/>
          <a:lstStyle/>
          <a:p>
            <a:endParaRPr lang="en-FI"/>
          </a:p>
        </p:txBody>
      </p:sp>
      <p:sp>
        <p:nvSpPr>
          <p:cNvPr id="15" name="Text 13"/>
          <p:cNvSpPr/>
          <p:nvPr/>
        </p:nvSpPr>
        <p:spPr>
          <a:xfrm>
            <a:off x="6217920" y="1847088"/>
            <a:ext cx="219456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OUTPUT</a:t>
            </a:r>
            <a:endParaRPr lang="en-US" sz="1000" dirty="0"/>
          </a:p>
        </p:txBody>
      </p:sp>
      <p:sp>
        <p:nvSpPr>
          <p:cNvPr id="16" name="Text 14"/>
          <p:cNvSpPr/>
          <p:nvPr/>
        </p:nvSpPr>
        <p:spPr>
          <a:xfrm>
            <a:off x="5989320" y="2240280"/>
            <a:ext cx="2423160" cy="777240"/>
          </a:xfrm>
          <a:prstGeom prst="rect">
            <a:avLst/>
          </a:prstGeom>
          <a:noFill/>
          <a:ln/>
        </p:spPr>
        <p:txBody>
          <a:bodyPr wrap="square" lIns="0" tIns="0" rIns="0" bIns="0" rtlCol="0" anchor="t"/>
          <a:lstStyle/>
          <a:p>
            <a:pPr marL="0" indent="0">
              <a:lnSpc>
                <a:spcPts val="2200"/>
              </a:lnSpc>
              <a:buNone/>
            </a:pPr>
            <a:r>
              <a:rPr lang="en-US" sz="1700" dirty="0">
                <a:solidFill>
                  <a:srgbClr val="FFFFFF"/>
                </a:solidFill>
                <a:latin typeface="Cambria" pitchFamily="34" charset="0"/>
                <a:ea typeface="Cambria" pitchFamily="34" charset="-122"/>
                <a:cs typeface="Cambria" pitchFamily="34" charset="-120"/>
              </a:rPr>
              <a:t>An approved feature specification</a:t>
            </a:r>
            <a:endParaRPr lang="en-US" sz="1700" dirty="0"/>
          </a:p>
        </p:txBody>
      </p:sp>
      <p:sp>
        <p:nvSpPr>
          <p:cNvPr id="17" name="Text 15"/>
          <p:cNvSpPr/>
          <p:nvPr/>
        </p:nvSpPr>
        <p:spPr>
          <a:xfrm>
            <a:off x="5989320" y="3154680"/>
            <a:ext cx="2423160" cy="914400"/>
          </a:xfrm>
          <a:prstGeom prst="rect">
            <a:avLst/>
          </a:prstGeom>
          <a:noFill/>
          <a:ln/>
        </p:spPr>
        <p:txBody>
          <a:bodyPr wrap="square" lIns="0" tIns="0" rIns="0" bIns="0" rtlCol="0" anchor="t"/>
          <a:lstStyle/>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Timebox: 35 min</a:t>
            </a:r>
            <a:endParaRPr lang="en-US" sz="1150" dirty="0"/>
          </a:p>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Pairs welcome, spec writing is not coding</a:t>
            </a:r>
            <a:endParaRPr lang="en-US" sz="1150" dirty="0"/>
          </a:p>
        </p:txBody>
      </p:sp>
      <p:sp>
        <p:nvSpPr>
          <p:cNvPr id="18" name="Text 16"/>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9" name="Text 17"/>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67</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3  ·  VALIDATION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What good looks like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Testable acceptance criteria, no ambiguity an agent could misread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Non-functional requirements stated, not implied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Out-of-scope named explicitly</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68</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4  ·  SERVICE OPERATIONS PORTAL</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Plan the implementation</a:t>
            </a:r>
            <a:endParaRPr lang="en-US" sz="3000" dirty="0"/>
          </a:p>
        </p:txBody>
      </p:sp>
      <p:sp>
        <p:nvSpPr>
          <p:cNvPr id="5" name="Text 3"/>
          <p:cNvSpPr/>
          <p:nvPr/>
        </p:nvSpPr>
        <p:spPr>
          <a:xfrm>
            <a:off x="502920" y="1645920"/>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005840" y="1664208"/>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Feed the approved spec to Copilot, in Plan mode</a:t>
            </a:r>
            <a:endParaRPr lang="en-US" sz="1400" dirty="0"/>
          </a:p>
        </p:txBody>
      </p:sp>
      <p:sp>
        <p:nvSpPr>
          <p:cNvPr id="7" name="Text 5"/>
          <p:cNvSpPr/>
          <p:nvPr/>
        </p:nvSpPr>
        <p:spPr>
          <a:xfrm>
            <a:off x="502920" y="2304288"/>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2</a:t>
            </a:r>
            <a:endParaRPr lang="en-US" sz="2000" dirty="0"/>
          </a:p>
        </p:txBody>
      </p:sp>
      <p:sp>
        <p:nvSpPr>
          <p:cNvPr id="8" name="Text 6"/>
          <p:cNvSpPr/>
          <p:nvPr/>
        </p:nvSpPr>
        <p:spPr>
          <a:xfrm>
            <a:off x="1005840" y="2322576"/>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Produce an implementation plan</a:t>
            </a:r>
            <a:endParaRPr lang="en-US" sz="1400" dirty="0"/>
          </a:p>
        </p:txBody>
      </p:sp>
      <p:sp>
        <p:nvSpPr>
          <p:cNvPr id="9" name="Text 7"/>
          <p:cNvSpPr/>
          <p:nvPr/>
        </p:nvSpPr>
        <p:spPr>
          <a:xfrm>
            <a:off x="502920" y="2962656"/>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3</a:t>
            </a:r>
            <a:endParaRPr lang="en-US" sz="2000" dirty="0"/>
          </a:p>
        </p:txBody>
      </p:sp>
      <p:sp>
        <p:nvSpPr>
          <p:cNvPr id="10" name="Text 8"/>
          <p:cNvSpPr/>
          <p:nvPr/>
        </p:nvSpPr>
        <p:spPr>
          <a:xfrm>
            <a:off x="1005840" y="2980944"/>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Produce a task breakdown</a:t>
            </a:r>
            <a:endParaRPr lang="en-US" sz="1400" dirty="0"/>
          </a:p>
        </p:txBody>
      </p:sp>
      <p:sp>
        <p:nvSpPr>
          <p:cNvPr id="11" name="Text 9"/>
          <p:cNvSpPr/>
          <p:nvPr/>
        </p:nvSpPr>
        <p:spPr>
          <a:xfrm>
            <a:off x="502920" y="3621024"/>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4</a:t>
            </a:r>
            <a:endParaRPr lang="en-US" sz="2000" dirty="0"/>
          </a:p>
        </p:txBody>
      </p:sp>
      <p:sp>
        <p:nvSpPr>
          <p:cNvPr id="12" name="Text 10"/>
          <p:cNvSpPr/>
          <p:nvPr/>
        </p:nvSpPr>
        <p:spPr>
          <a:xfrm>
            <a:off x="1005840" y="3639312"/>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Produce a test strategy</a:t>
            </a:r>
            <a:endParaRPr lang="en-US" sz="1400" dirty="0"/>
          </a:p>
        </p:txBody>
      </p:sp>
      <p:sp>
        <p:nvSpPr>
          <p:cNvPr id="13" name="Shape 11"/>
          <p:cNvSpPr/>
          <p:nvPr/>
        </p:nvSpPr>
        <p:spPr>
          <a:xfrm>
            <a:off x="5715000" y="1645920"/>
            <a:ext cx="2926080" cy="2606040"/>
          </a:xfrm>
          <a:prstGeom prst="roundRect">
            <a:avLst>
              <a:gd name="adj" fmla="val 2105"/>
            </a:avLst>
          </a:prstGeom>
          <a:solidFill>
            <a:srgbClr val="1A1A1A"/>
          </a:solidFill>
          <a:ln/>
        </p:spPr>
        <p:txBody>
          <a:bodyPr/>
          <a:lstStyle/>
          <a:p>
            <a:endParaRPr lang="en-FI"/>
          </a:p>
        </p:txBody>
      </p:sp>
      <p:sp>
        <p:nvSpPr>
          <p:cNvPr id="14" name="Shape 12"/>
          <p:cNvSpPr/>
          <p:nvPr/>
        </p:nvSpPr>
        <p:spPr>
          <a:xfrm rot="2700000">
            <a:off x="5989320" y="1929384"/>
            <a:ext cx="118872" cy="118872"/>
          </a:xfrm>
          <a:prstGeom prst="rect">
            <a:avLst/>
          </a:prstGeom>
          <a:solidFill>
            <a:srgbClr val="B2542F"/>
          </a:solidFill>
          <a:ln/>
        </p:spPr>
        <p:txBody>
          <a:bodyPr/>
          <a:lstStyle/>
          <a:p>
            <a:endParaRPr lang="en-FI"/>
          </a:p>
        </p:txBody>
      </p:sp>
      <p:sp>
        <p:nvSpPr>
          <p:cNvPr id="15" name="Text 13"/>
          <p:cNvSpPr/>
          <p:nvPr/>
        </p:nvSpPr>
        <p:spPr>
          <a:xfrm>
            <a:off x="6217920" y="1847088"/>
            <a:ext cx="219456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OUTPUT</a:t>
            </a:r>
            <a:endParaRPr lang="en-US" sz="1000" dirty="0"/>
          </a:p>
        </p:txBody>
      </p:sp>
      <p:sp>
        <p:nvSpPr>
          <p:cNvPr id="16" name="Text 14"/>
          <p:cNvSpPr/>
          <p:nvPr/>
        </p:nvSpPr>
        <p:spPr>
          <a:xfrm>
            <a:off x="5989320" y="2240280"/>
            <a:ext cx="2423160" cy="777240"/>
          </a:xfrm>
          <a:prstGeom prst="rect">
            <a:avLst/>
          </a:prstGeom>
          <a:noFill/>
          <a:ln/>
        </p:spPr>
        <p:txBody>
          <a:bodyPr wrap="square" lIns="0" tIns="0" rIns="0" bIns="0" rtlCol="0" anchor="t"/>
          <a:lstStyle/>
          <a:p>
            <a:pPr marL="0" indent="0">
              <a:lnSpc>
                <a:spcPts val="2200"/>
              </a:lnSpc>
              <a:buNone/>
            </a:pPr>
            <a:r>
              <a:rPr lang="en-US" sz="1700" dirty="0">
                <a:solidFill>
                  <a:srgbClr val="FFFFFF"/>
                </a:solidFill>
                <a:latin typeface="Cambria" pitchFamily="34" charset="0"/>
                <a:ea typeface="Cambria" pitchFamily="34" charset="-122"/>
                <a:cs typeface="Cambria" pitchFamily="34" charset="-120"/>
              </a:rPr>
              <a:t>A development plan you would follow</a:t>
            </a:r>
            <a:endParaRPr lang="en-US" sz="1700" dirty="0"/>
          </a:p>
        </p:txBody>
      </p:sp>
      <p:sp>
        <p:nvSpPr>
          <p:cNvPr id="17" name="Text 15"/>
          <p:cNvSpPr/>
          <p:nvPr/>
        </p:nvSpPr>
        <p:spPr>
          <a:xfrm>
            <a:off x="5989320" y="3154680"/>
            <a:ext cx="2423160" cy="914400"/>
          </a:xfrm>
          <a:prstGeom prst="rect">
            <a:avLst/>
          </a:prstGeom>
          <a:noFill/>
          <a:ln/>
        </p:spPr>
        <p:txBody>
          <a:bodyPr wrap="square" lIns="0" tIns="0" rIns="0" bIns="0" rtlCol="0" anchor="t"/>
          <a:lstStyle/>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Plan mode</a:t>
            </a:r>
            <a:endParaRPr lang="en-US" sz="1150" dirty="0"/>
          </a:p>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Review and reorder at least one step</a:t>
            </a:r>
            <a:endParaRPr lang="en-US" sz="1150" dirty="0"/>
          </a:p>
        </p:txBody>
      </p:sp>
      <p:sp>
        <p:nvSpPr>
          <p:cNvPr id="18" name="Text 16"/>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9" name="Text 17"/>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69</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Coffee break</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15 minutes  ·  14:15 to 14:30</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70</a:t>
            </a:r>
            <a:endParaRPr lang="en-US" sz="800" dirty="0"/>
          </a:p>
        </p:txBody>
      </p:sp>
      <p:pic>
        <p:nvPicPr>
          <p:cNvPr id="8" name="Picture 7" descr="coffee.png"/>
          <p:cNvPicPr>
            <a:picLocks noChangeAspect="1"/>
          </p:cNvPicPr>
          <p:nvPr/>
        </p:nvPicPr>
        <p:blipFill>
          <a:blip r:embed="rId3"/>
          <a:stretch>
            <a:fillRect/>
          </a:stretch>
        </p:blipFill>
        <p:spPr>
          <a:xfrm>
            <a:off x="502920" y="914400"/>
            <a:ext cx="1554480" cy="155448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5  ·  SERVICE OPERATIONS PORTAL</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Implement with GitHub Copilot</a:t>
            </a:r>
            <a:endParaRPr lang="en-US" sz="3000" dirty="0"/>
          </a:p>
        </p:txBody>
      </p:sp>
      <p:sp>
        <p:nvSpPr>
          <p:cNvPr id="5" name="Text 3"/>
          <p:cNvSpPr/>
          <p:nvPr/>
        </p:nvSpPr>
        <p:spPr>
          <a:xfrm>
            <a:off x="502920" y="1645920"/>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005840" y="1664208"/>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Domain model and API, from the plan, in Agent mode</a:t>
            </a:r>
            <a:endParaRPr lang="en-US" sz="1400" dirty="0"/>
          </a:p>
        </p:txBody>
      </p:sp>
      <p:sp>
        <p:nvSpPr>
          <p:cNvPr id="7" name="Text 5"/>
          <p:cNvSpPr/>
          <p:nvPr/>
        </p:nvSpPr>
        <p:spPr>
          <a:xfrm>
            <a:off x="502920" y="2304288"/>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2</a:t>
            </a:r>
            <a:endParaRPr lang="en-US" sz="2000" dirty="0"/>
          </a:p>
        </p:txBody>
      </p:sp>
      <p:sp>
        <p:nvSpPr>
          <p:cNvPr id="8" name="Text 6"/>
          <p:cNvSpPr/>
          <p:nvPr/>
        </p:nvSpPr>
        <p:spPr>
          <a:xfrm>
            <a:off x="1005840" y="2322576"/>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Tests and a refactor</a:t>
            </a:r>
            <a:endParaRPr lang="en-US" sz="1400" dirty="0"/>
          </a:p>
        </p:txBody>
      </p:sp>
      <p:sp>
        <p:nvSpPr>
          <p:cNvPr id="9" name="Text 7"/>
          <p:cNvSpPr/>
          <p:nvPr/>
        </p:nvSpPr>
        <p:spPr>
          <a:xfrm>
            <a:off x="502920" y="2962656"/>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3</a:t>
            </a:r>
            <a:endParaRPr lang="en-US" sz="2000" dirty="0"/>
          </a:p>
        </p:txBody>
      </p:sp>
      <p:sp>
        <p:nvSpPr>
          <p:cNvPr id="10" name="Text 8"/>
          <p:cNvSpPr/>
          <p:nvPr/>
        </p:nvSpPr>
        <p:spPr>
          <a:xfrm>
            <a:off x="1005840" y="2980944"/>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Work in pairs: driver and navigator</a:t>
            </a:r>
            <a:endParaRPr lang="en-US" sz="1400" dirty="0"/>
          </a:p>
        </p:txBody>
      </p:sp>
      <p:sp>
        <p:nvSpPr>
          <p:cNvPr id="11" name="Text 9"/>
          <p:cNvSpPr/>
          <p:nvPr/>
        </p:nvSpPr>
        <p:spPr>
          <a:xfrm>
            <a:off x="502920" y="3621024"/>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4</a:t>
            </a:r>
            <a:endParaRPr lang="en-US" sz="2000" dirty="0"/>
          </a:p>
        </p:txBody>
      </p:sp>
      <p:sp>
        <p:nvSpPr>
          <p:cNvPr id="12" name="Text 10"/>
          <p:cNvSpPr/>
          <p:nvPr/>
        </p:nvSpPr>
        <p:spPr>
          <a:xfrm>
            <a:off x="1005840" y="3639312"/>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Small steps, review each before the next</a:t>
            </a:r>
            <a:endParaRPr lang="en-US" sz="1400" dirty="0"/>
          </a:p>
        </p:txBody>
      </p:sp>
      <p:sp>
        <p:nvSpPr>
          <p:cNvPr id="13" name="Shape 11"/>
          <p:cNvSpPr/>
          <p:nvPr/>
        </p:nvSpPr>
        <p:spPr>
          <a:xfrm>
            <a:off x="5715000" y="1645920"/>
            <a:ext cx="2926080" cy="2606040"/>
          </a:xfrm>
          <a:prstGeom prst="roundRect">
            <a:avLst>
              <a:gd name="adj" fmla="val 2105"/>
            </a:avLst>
          </a:prstGeom>
          <a:solidFill>
            <a:srgbClr val="1A1A1A"/>
          </a:solidFill>
          <a:ln/>
        </p:spPr>
        <p:txBody>
          <a:bodyPr/>
          <a:lstStyle/>
          <a:p>
            <a:endParaRPr lang="en-FI"/>
          </a:p>
        </p:txBody>
      </p:sp>
      <p:sp>
        <p:nvSpPr>
          <p:cNvPr id="14" name="Shape 12"/>
          <p:cNvSpPr/>
          <p:nvPr/>
        </p:nvSpPr>
        <p:spPr>
          <a:xfrm rot="2700000">
            <a:off x="5989320" y="1929384"/>
            <a:ext cx="118872" cy="118872"/>
          </a:xfrm>
          <a:prstGeom prst="rect">
            <a:avLst/>
          </a:prstGeom>
          <a:solidFill>
            <a:srgbClr val="B2542F"/>
          </a:solidFill>
          <a:ln/>
        </p:spPr>
        <p:txBody>
          <a:bodyPr/>
          <a:lstStyle/>
          <a:p>
            <a:endParaRPr lang="en-FI"/>
          </a:p>
        </p:txBody>
      </p:sp>
      <p:sp>
        <p:nvSpPr>
          <p:cNvPr id="15" name="Text 13"/>
          <p:cNvSpPr/>
          <p:nvPr/>
        </p:nvSpPr>
        <p:spPr>
          <a:xfrm>
            <a:off x="6217920" y="1847088"/>
            <a:ext cx="219456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OUTPUT</a:t>
            </a:r>
            <a:endParaRPr lang="en-US" sz="1000" dirty="0"/>
          </a:p>
        </p:txBody>
      </p:sp>
      <p:sp>
        <p:nvSpPr>
          <p:cNvPr id="16" name="Text 14"/>
          <p:cNvSpPr/>
          <p:nvPr/>
        </p:nvSpPr>
        <p:spPr>
          <a:xfrm>
            <a:off x="5989320" y="2240280"/>
            <a:ext cx="2423160" cy="777240"/>
          </a:xfrm>
          <a:prstGeom prst="rect">
            <a:avLst/>
          </a:prstGeom>
          <a:noFill/>
          <a:ln/>
        </p:spPr>
        <p:txBody>
          <a:bodyPr wrap="square" lIns="0" tIns="0" rIns="0" bIns="0" rtlCol="0" anchor="t"/>
          <a:lstStyle/>
          <a:p>
            <a:pPr marL="0" indent="0">
              <a:lnSpc>
                <a:spcPts val="2200"/>
              </a:lnSpc>
              <a:buNone/>
            </a:pPr>
            <a:r>
              <a:rPr lang="en-US" sz="1700" dirty="0">
                <a:solidFill>
                  <a:srgbClr val="FFFFFF"/>
                </a:solidFill>
                <a:latin typeface="Cambria" pitchFamily="34" charset="0"/>
                <a:ea typeface="Cambria" pitchFamily="34" charset="-122"/>
                <a:cs typeface="Cambria" pitchFamily="34" charset="-120"/>
              </a:rPr>
              <a:t>A working, reviewed feature</a:t>
            </a:r>
            <a:endParaRPr lang="en-US" sz="1700" dirty="0"/>
          </a:p>
        </p:txBody>
      </p:sp>
      <p:sp>
        <p:nvSpPr>
          <p:cNvPr id="17" name="Text 15"/>
          <p:cNvSpPr/>
          <p:nvPr/>
        </p:nvSpPr>
        <p:spPr>
          <a:xfrm>
            <a:off x="5989320" y="3154680"/>
            <a:ext cx="2423160" cy="914400"/>
          </a:xfrm>
          <a:prstGeom prst="rect">
            <a:avLst/>
          </a:prstGeom>
          <a:noFill/>
          <a:ln/>
        </p:spPr>
        <p:txBody>
          <a:bodyPr wrap="square" lIns="0" tIns="0" rIns="0" bIns="0" rtlCol="0" anchor="t"/>
          <a:lstStyle/>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Agent mode</a:t>
            </a:r>
            <a:endParaRPr lang="en-US" sz="1150" dirty="0"/>
          </a:p>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Pairs keep mixed skill levels engaged</a:t>
            </a:r>
            <a:endParaRPr lang="en-US" sz="1150" dirty="0"/>
          </a:p>
        </p:txBody>
      </p:sp>
      <p:sp>
        <p:nvSpPr>
          <p:cNvPr id="18" name="Text 16"/>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9" name="Text 17"/>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71</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5  ·  THE EXTENSION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The regulatory-check extension</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Extend the feature to satisfy a written compliance requirement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REG-01: an append-only audit trail</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trail from spec to code must show it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Where traceability stops being theory</a:t>
            </a:r>
            <a:endParaRPr lang="en-US" sz="1450" dirty="0"/>
          </a:p>
        </p:txBody>
      </p:sp>
      <p:sp>
        <p:nvSpPr>
          <p:cNvPr id="6" name="Shape 4"/>
          <p:cNvSpPr/>
          <p:nvPr/>
        </p:nvSpPr>
        <p:spPr>
          <a:xfrm>
            <a:off x="5715000" y="1600200"/>
            <a:ext cx="2926080" cy="2743200"/>
          </a:xfrm>
          <a:prstGeom prst="roundRect">
            <a:avLst>
              <a:gd name="adj" fmla="val 2000"/>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7" name="Shape 5"/>
          <p:cNvSpPr/>
          <p:nvPr/>
        </p:nvSpPr>
        <p:spPr>
          <a:xfrm rot="2700000">
            <a:off x="5989320" y="1883664"/>
            <a:ext cx="118872" cy="118872"/>
          </a:xfrm>
          <a:prstGeom prst="rect">
            <a:avLst/>
          </a:prstGeom>
          <a:solidFill>
            <a:srgbClr val="B2542F"/>
          </a:solidFill>
          <a:ln/>
        </p:spPr>
        <p:txBody>
          <a:bodyPr/>
          <a:lstStyle/>
          <a:p>
            <a:endParaRPr lang="en-FI"/>
          </a:p>
        </p:txBody>
      </p:sp>
      <p:sp>
        <p:nvSpPr>
          <p:cNvPr id="8" name="Text 6"/>
          <p:cNvSpPr/>
          <p:nvPr/>
        </p:nvSpPr>
        <p:spPr>
          <a:xfrm>
            <a:off x="6217920" y="1801368"/>
            <a:ext cx="228600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MDR AND HIPAA, AS A SIMULATION</a:t>
            </a:r>
            <a:endParaRPr lang="en-US" sz="1000" dirty="0"/>
          </a:p>
        </p:txBody>
      </p:sp>
      <p:sp>
        <p:nvSpPr>
          <p:cNvPr id="9" name="Text 7"/>
          <p:cNvSpPr/>
          <p:nvPr/>
        </p:nvSpPr>
        <p:spPr>
          <a:xfrm>
            <a:off x="5989320" y="2212848"/>
            <a:ext cx="2423160" cy="1920240"/>
          </a:xfrm>
          <a:prstGeom prst="rect">
            <a:avLst/>
          </a:prstGeom>
          <a:noFill/>
          <a:ln/>
        </p:spPr>
        <p:txBody>
          <a:bodyPr wrap="square" lIns="0" tIns="0" rIns="0" bIns="0" rtlCol="0" anchor="t"/>
          <a:lstStyle/>
          <a:p>
            <a:pPr marL="0" indent="0">
              <a:lnSpc>
                <a:spcPts val="1900"/>
              </a:lnSpc>
              <a:buNone/>
            </a:pPr>
            <a:r>
              <a:rPr lang="en-US" sz="1250" dirty="0">
                <a:solidFill>
                  <a:srgbClr val="3A3733"/>
                </a:solidFill>
                <a:latin typeface="Calibri" pitchFamily="34" charset="0"/>
                <a:ea typeface="Calibri" pitchFamily="34" charset="-122"/>
                <a:cs typeface="Calibri" pitchFamily="34" charset="-120"/>
              </a:rPr>
              <a:t>The requirement arrives as a spec change; the flow absorbs it; the trail proves it. Not legal advice. Devices, never patients.</a:t>
            </a:r>
            <a:endParaRPr lang="en-US" sz="12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72</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6  ·  SERVICE OPERATIONS PORTAL</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Documentation for AI</a:t>
            </a:r>
            <a:endParaRPr lang="en-US" sz="3000" dirty="0"/>
          </a:p>
        </p:txBody>
      </p:sp>
      <p:sp>
        <p:nvSpPr>
          <p:cNvPr id="5" name="Text 3"/>
          <p:cNvSpPr/>
          <p:nvPr/>
        </p:nvSpPr>
        <p:spPr>
          <a:xfrm>
            <a:off x="502920" y="1645920"/>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005840" y="1664208"/>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Generate operational and developer documentation</a:t>
            </a:r>
            <a:endParaRPr lang="en-US" sz="1400" dirty="0"/>
          </a:p>
        </p:txBody>
      </p:sp>
      <p:sp>
        <p:nvSpPr>
          <p:cNvPr id="7" name="Text 5"/>
          <p:cNvSpPr/>
          <p:nvPr/>
        </p:nvSpPr>
        <p:spPr>
          <a:xfrm>
            <a:off x="502920" y="2304288"/>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2</a:t>
            </a:r>
            <a:endParaRPr lang="en-US" sz="2000" dirty="0"/>
          </a:p>
        </p:txBody>
      </p:sp>
      <p:sp>
        <p:nvSpPr>
          <p:cNvPr id="8" name="Text 6"/>
          <p:cNvSpPr/>
          <p:nvPr/>
        </p:nvSpPr>
        <p:spPr>
          <a:xfrm>
            <a:off x="1005840" y="2322576"/>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Structure it for AI retrieval</a:t>
            </a:r>
            <a:endParaRPr lang="en-US" sz="1400" dirty="0"/>
          </a:p>
        </p:txBody>
      </p:sp>
      <p:sp>
        <p:nvSpPr>
          <p:cNvPr id="9" name="Text 7"/>
          <p:cNvSpPr/>
          <p:nvPr/>
        </p:nvSpPr>
        <p:spPr>
          <a:xfrm>
            <a:off x="502920" y="2962656"/>
            <a:ext cx="411480" cy="457200"/>
          </a:xfrm>
          <a:prstGeom prst="rect">
            <a:avLst/>
          </a:prstGeom>
          <a:noFill/>
          <a:ln/>
        </p:spPr>
        <p:txBody>
          <a:bodyPr wrap="square" lIns="0" tIns="0" rIns="0" bIns="0" rtlCol="0" anchor="ctr"/>
          <a:lstStyle/>
          <a:p>
            <a:pPr marL="0" indent="0">
              <a:buNone/>
            </a:pPr>
            <a:r>
              <a:rPr lang="en-US" sz="2000" dirty="0">
                <a:solidFill>
                  <a:srgbClr val="B2542F"/>
                </a:solidFill>
                <a:latin typeface="Cambria" pitchFamily="34" charset="0"/>
                <a:ea typeface="Cambria" pitchFamily="34" charset="-122"/>
                <a:cs typeface="Cambria" pitchFamily="34" charset="-120"/>
              </a:rPr>
              <a:t>3</a:t>
            </a:r>
            <a:endParaRPr lang="en-US" sz="2000" dirty="0"/>
          </a:p>
        </p:txBody>
      </p:sp>
      <p:sp>
        <p:nvSpPr>
          <p:cNvPr id="10" name="Text 8"/>
          <p:cNvSpPr/>
          <p:nvPr/>
        </p:nvSpPr>
        <p:spPr>
          <a:xfrm>
            <a:off x="1005840" y="2980944"/>
            <a:ext cx="4297680" cy="502920"/>
          </a:xfrm>
          <a:prstGeom prst="rect">
            <a:avLst/>
          </a:prstGeom>
          <a:noFill/>
          <a:ln/>
        </p:spPr>
        <p:txBody>
          <a:bodyPr wrap="square" lIns="0" tIns="0" rIns="0" bIns="0" rtlCol="0" anchor="ctr"/>
          <a:lstStyle/>
          <a:p>
            <a:pPr marL="0" indent="0">
              <a:buNone/>
            </a:pPr>
            <a:r>
              <a:rPr lang="en-US" sz="1400" dirty="0">
                <a:solidFill>
                  <a:srgbClr val="3A3733"/>
                </a:solidFill>
                <a:latin typeface="Calibri" pitchFamily="34" charset="0"/>
                <a:ea typeface="Calibri" pitchFamily="34" charset="-122"/>
                <a:cs typeface="Calibri" pitchFamily="34" charset="-120"/>
              </a:rPr>
              <a:t>Audit it; improve the pipeline and instructions</a:t>
            </a:r>
            <a:endParaRPr lang="en-US" sz="1400" dirty="0"/>
          </a:p>
        </p:txBody>
      </p:sp>
      <p:sp>
        <p:nvSpPr>
          <p:cNvPr id="13" name="Shape 11"/>
          <p:cNvSpPr/>
          <p:nvPr/>
        </p:nvSpPr>
        <p:spPr>
          <a:xfrm>
            <a:off x="5715000" y="1645920"/>
            <a:ext cx="2926080" cy="2606040"/>
          </a:xfrm>
          <a:prstGeom prst="roundRect">
            <a:avLst>
              <a:gd name="adj" fmla="val 2105"/>
            </a:avLst>
          </a:prstGeom>
          <a:solidFill>
            <a:srgbClr val="1A1A1A"/>
          </a:solidFill>
          <a:ln/>
        </p:spPr>
        <p:txBody>
          <a:bodyPr/>
          <a:lstStyle/>
          <a:p>
            <a:endParaRPr lang="en-FI"/>
          </a:p>
        </p:txBody>
      </p:sp>
      <p:sp>
        <p:nvSpPr>
          <p:cNvPr id="14" name="Shape 12"/>
          <p:cNvSpPr/>
          <p:nvPr/>
        </p:nvSpPr>
        <p:spPr>
          <a:xfrm rot="2700000">
            <a:off x="5989320" y="1929384"/>
            <a:ext cx="118872" cy="118872"/>
          </a:xfrm>
          <a:prstGeom prst="rect">
            <a:avLst/>
          </a:prstGeom>
          <a:solidFill>
            <a:srgbClr val="B2542F"/>
          </a:solidFill>
          <a:ln/>
        </p:spPr>
        <p:txBody>
          <a:bodyPr/>
          <a:lstStyle/>
          <a:p>
            <a:endParaRPr lang="en-FI"/>
          </a:p>
        </p:txBody>
      </p:sp>
      <p:sp>
        <p:nvSpPr>
          <p:cNvPr id="15" name="Text 13"/>
          <p:cNvSpPr/>
          <p:nvPr/>
        </p:nvSpPr>
        <p:spPr>
          <a:xfrm>
            <a:off x="6217920" y="1847088"/>
            <a:ext cx="2194560" cy="274320"/>
          </a:xfrm>
          <a:prstGeom prst="rect">
            <a:avLst/>
          </a:prstGeom>
          <a:noFill/>
          <a:ln/>
        </p:spPr>
        <p:txBody>
          <a:bodyPr wrap="square" lIns="0" tIns="0" rIns="0" bIns="0" rtlCol="0" anchor="ctr"/>
          <a:lstStyle/>
          <a:p>
            <a:pPr marL="0" indent="0">
              <a:buNone/>
            </a:pPr>
            <a:r>
              <a:rPr lang="en-US" sz="1000" b="1" kern="0" spc="300" dirty="0">
                <a:solidFill>
                  <a:srgbClr val="B2542F"/>
                </a:solidFill>
                <a:latin typeface="Calibri" pitchFamily="34" charset="0"/>
                <a:ea typeface="Calibri" pitchFamily="34" charset="-122"/>
                <a:cs typeface="Calibri" pitchFamily="34" charset="-120"/>
              </a:rPr>
              <a:t>OUTPUT</a:t>
            </a:r>
            <a:endParaRPr lang="en-US" sz="1000" dirty="0"/>
          </a:p>
        </p:txBody>
      </p:sp>
      <p:sp>
        <p:nvSpPr>
          <p:cNvPr id="16" name="Text 14"/>
          <p:cNvSpPr/>
          <p:nvPr/>
        </p:nvSpPr>
        <p:spPr>
          <a:xfrm>
            <a:off x="5989320" y="2240280"/>
            <a:ext cx="2423160" cy="777240"/>
          </a:xfrm>
          <a:prstGeom prst="rect">
            <a:avLst/>
          </a:prstGeom>
          <a:noFill/>
          <a:ln/>
        </p:spPr>
        <p:txBody>
          <a:bodyPr wrap="square" lIns="0" tIns="0" rIns="0" bIns="0" rtlCol="0" anchor="t"/>
          <a:lstStyle/>
          <a:p>
            <a:pPr marL="0" indent="0">
              <a:lnSpc>
                <a:spcPts val="2200"/>
              </a:lnSpc>
              <a:buNone/>
            </a:pPr>
            <a:r>
              <a:rPr lang="en-US" sz="1700" dirty="0">
                <a:solidFill>
                  <a:srgbClr val="FFFFFF"/>
                </a:solidFill>
                <a:latin typeface="Cambria" pitchFamily="34" charset="0"/>
                <a:ea typeface="Cambria" pitchFamily="34" charset="-122"/>
                <a:cs typeface="Cambria" pitchFamily="34" charset="-120"/>
              </a:rPr>
              <a:t>An AI-ready documentation package</a:t>
            </a:r>
            <a:endParaRPr lang="en-US" sz="1700" dirty="0"/>
          </a:p>
        </p:txBody>
      </p:sp>
      <p:sp>
        <p:nvSpPr>
          <p:cNvPr id="17" name="Text 15"/>
          <p:cNvSpPr/>
          <p:nvPr/>
        </p:nvSpPr>
        <p:spPr>
          <a:xfrm>
            <a:off x="5989320" y="3154680"/>
            <a:ext cx="2423160" cy="914400"/>
          </a:xfrm>
          <a:prstGeom prst="rect">
            <a:avLst/>
          </a:prstGeom>
          <a:noFill/>
          <a:ln/>
        </p:spPr>
        <p:txBody>
          <a:bodyPr wrap="square" lIns="0" tIns="0" rIns="0" bIns="0" rtlCol="0" anchor="t"/>
          <a:lstStyle/>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Generated from the work</a:t>
            </a:r>
            <a:endParaRPr lang="en-US" sz="1150" dirty="0"/>
          </a:p>
          <a:p>
            <a:pPr marL="0" indent="0">
              <a:lnSpc>
                <a:spcPts val="1700"/>
              </a:lnSpc>
              <a:buNone/>
            </a:pPr>
            <a:r>
              <a:rPr lang="en-US" sz="1150" dirty="0">
                <a:solidFill>
                  <a:srgbClr val="CFC9C2"/>
                </a:solidFill>
                <a:latin typeface="Calibri" pitchFamily="34" charset="0"/>
                <a:ea typeface="Calibri" pitchFamily="34" charset="-122"/>
                <a:cs typeface="Calibri" pitchFamily="34" charset="-120"/>
              </a:rPr>
              <a:t>Optional: delegate to a background agent</a:t>
            </a:r>
            <a:endParaRPr lang="en-US" sz="1150" dirty="0"/>
          </a:p>
        </p:txBody>
      </p:sp>
      <p:sp>
        <p:nvSpPr>
          <p:cNvPr id="18" name="Text 16"/>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9" name="Text 17"/>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73</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02920" y="822960"/>
            <a:ext cx="3108960" cy="1737360"/>
          </a:xfrm>
          <a:prstGeom prst="rect">
            <a:avLst/>
          </a:prstGeom>
          <a:noFill/>
          <a:ln/>
        </p:spPr>
        <p:txBody>
          <a:bodyPr wrap="square" lIns="0" tIns="0" rIns="0" bIns="0" rtlCol="0" anchor="ctr"/>
          <a:lstStyle/>
          <a:p>
            <a:pPr marL="0" indent="0">
              <a:buNone/>
            </a:pPr>
            <a:r>
              <a:rPr lang="en-US" sz="11000" dirty="0">
                <a:solidFill>
                  <a:srgbClr val="B2542F"/>
                </a:solidFill>
                <a:latin typeface="Cambria" pitchFamily="34" charset="0"/>
                <a:ea typeface="Cambria" pitchFamily="34" charset="-122"/>
                <a:cs typeface="Cambria" pitchFamily="34" charset="-120"/>
              </a:rPr>
              <a:t>05</a:t>
            </a:r>
            <a:endParaRPr lang="en-US" sz="11000" dirty="0"/>
          </a:p>
        </p:txBody>
      </p:sp>
      <p:sp>
        <p:nvSpPr>
          <p:cNvPr id="3" name="Text 1"/>
          <p:cNvSpPr/>
          <p:nvPr/>
        </p:nvSpPr>
        <p:spPr>
          <a:xfrm>
            <a:off x="502920" y="2697480"/>
            <a:ext cx="6949440" cy="1371600"/>
          </a:xfrm>
          <a:prstGeom prst="rect">
            <a:avLst/>
          </a:prstGeom>
          <a:noFill/>
          <a:ln/>
        </p:spPr>
        <p:txBody>
          <a:bodyPr wrap="square" lIns="0" tIns="0" rIns="0" bIns="0" rtlCol="0" anchor="ctr"/>
          <a:lstStyle/>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Agent workflows</a:t>
            </a:r>
            <a:endParaRPr lang="en-US" sz="4000" dirty="0"/>
          </a:p>
          <a:p>
            <a:pPr marL="0" indent="0">
              <a:lnSpc>
                <a:spcPts val="4600"/>
              </a:lnSpc>
              <a:buNone/>
            </a:pPr>
            <a:r>
              <a:rPr lang="en-US" sz="4000" dirty="0">
                <a:solidFill>
                  <a:srgbClr val="FFFFFF"/>
                </a:solidFill>
                <a:latin typeface="Cambria" pitchFamily="34" charset="0"/>
                <a:ea typeface="Cambria" pitchFamily="34" charset="-122"/>
                <a:cs typeface="Cambria" pitchFamily="34" charset="-120"/>
              </a:rPr>
              <a:t>and methodologies</a:t>
            </a:r>
            <a:endParaRPr lang="en-US" sz="4000" dirty="0"/>
          </a:p>
        </p:txBody>
      </p:sp>
      <p:sp>
        <p:nvSpPr>
          <p:cNvPr id="4" name="Text 2"/>
          <p:cNvSpPr/>
          <p:nvPr/>
        </p:nvSpPr>
        <p:spPr>
          <a:xfrm>
            <a:off x="502920" y="4114800"/>
            <a:ext cx="6583680" cy="411480"/>
          </a:xfrm>
          <a:prstGeom prst="rect">
            <a:avLst/>
          </a:prstGeom>
          <a:noFill/>
          <a:ln/>
        </p:spPr>
        <p:txBody>
          <a:bodyPr wrap="square" lIns="0" tIns="0" rIns="0" bIns="0" rtlCol="0" anchor="ctr"/>
          <a:lstStyle/>
          <a:p>
            <a:pPr marL="0" indent="0">
              <a:buNone/>
            </a:pPr>
            <a:r>
              <a:rPr lang="en-US" sz="1400" dirty="0">
                <a:solidFill>
                  <a:srgbClr val="CFC9C2"/>
                </a:solidFill>
                <a:latin typeface="Calibri" pitchFamily="34" charset="0"/>
                <a:ea typeface="Calibri" pitchFamily="34" charset="-122"/>
                <a:cs typeface="Calibri" pitchFamily="34" charset="-120"/>
              </a:rPr>
              <a:t>Canvas, formal methods, a decision path for Topcon</a:t>
            </a:r>
            <a:endParaRPr lang="en-US" sz="1400" dirty="0"/>
          </a:p>
        </p:txBody>
      </p:sp>
      <p:sp>
        <p:nvSpPr>
          <p:cNvPr id="5" name="Shape 3"/>
          <p:cNvSpPr/>
          <p:nvPr/>
        </p:nvSpPr>
        <p:spPr>
          <a:xfrm rot="2700000">
            <a:off x="8321040" y="548640"/>
            <a:ext cx="146304" cy="146304"/>
          </a:xfrm>
          <a:prstGeom prst="rect">
            <a:avLst/>
          </a:prstGeom>
          <a:solidFill>
            <a:srgbClr val="B2542F"/>
          </a:solidFill>
          <a:ln/>
        </p:spPr>
        <p:txBody>
          <a:bodyPr/>
          <a:lstStyle/>
          <a:p>
            <a:endParaRPr lang="en-FI"/>
          </a:p>
        </p:txBody>
      </p:sp>
      <p:sp>
        <p:nvSpPr>
          <p:cNvPr id="6" name="Text 4"/>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6E6A66"/>
                </a:solidFill>
                <a:latin typeface="Calibri" pitchFamily="34" charset="0"/>
                <a:ea typeface="Calibri" pitchFamily="34" charset="-122"/>
                <a:cs typeface="Calibri" pitchFamily="34" charset="-120"/>
              </a:rPr>
              <a:t>Black Belt Consulting  ×  AO Finland</a:t>
            </a:r>
            <a:endParaRPr lang="en-US" sz="800" dirty="0"/>
          </a:p>
        </p:txBody>
      </p:sp>
      <p:sp>
        <p:nvSpPr>
          <p:cNvPr id="7" name="Text 5"/>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6E6A66"/>
                </a:solidFill>
                <a:latin typeface="Calibri" pitchFamily="34" charset="0"/>
                <a:ea typeface="Calibri" pitchFamily="34" charset="-122"/>
                <a:cs typeface="Calibri" pitchFamily="34" charset="-120"/>
              </a:rPr>
              <a:t>74</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LAB 7  ·  WORKSHOP</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Agentic development workshop</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In small groups, sketch the agent workflow for this project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Human approval points and governance model</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Documentation requirements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Output: an agent architecture canvas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75</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METHODOLOGIES  ·  THE PIVOT</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You just invented a methodology</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Your canvas: roles, approval gates, documents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The industry has formalised exactly this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Three worth knowing, plus the wider field</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76</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METHODOLOGIES  ·  ONE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GitHub Spec Kit</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Open-source spec-driven toolkit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Spec, Plan, Tasks, Implement</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Fits the VS Code and GitHub Copilot world</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project Constitution can encode security and compliance rules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77</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METHODOLOGIES  ·  TWO</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OpenSpec</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Lightweight, tool-agnostic, open source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living source-of-truth spec</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Proposal, apply, archive flow</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78</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METHODOLOGIES  ·  THREE</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The joint Black Belt and AO Finland methodology</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 structured agentic model</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Role-divided agents and decision documents</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Built for traceability and regulated contexts</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79</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METHODOLOGIES  ·  THE WIDER FIELD</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Others in the space</a:t>
            </a:r>
            <a:endParaRPr lang="en-US" sz="3000" dirty="0"/>
          </a:p>
        </p:txBody>
      </p:sp>
      <p:sp>
        <p:nvSpPr>
          <p:cNvPr id="5" name="Text 3"/>
          <p:cNvSpPr/>
          <p:nvPr/>
        </p:nvSpPr>
        <p:spPr>
          <a:xfrm>
            <a:off x="502920" y="1600200"/>
            <a:ext cx="4846320" cy="2834640"/>
          </a:xfrm>
          <a:prstGeom prst="rect">
            <a:avLst/>
          </a:prstGeom>
          <a:noFill/>
          <a:ln/>
        </p:spPr>
        <p:txBody>
          <a:bodyPr wrap="square" lIns="0" tIns="0" rIns="0" bIns="0" rtlCol="0" anchor="ctr"/>
          <a:lstStyle/>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BMAD-METHOD: a virtual agent team</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Amazon Kiro: AWS-native (a contrast, not a fit here)</a:t>
            </a:r>
            <a:endParaRPr lang="en-US" sz="1450" dirty="0"/>
          </a:p>
          <a:p>
            <a:pPr marL="342900" indent="-342900">
              <a:lnSpc>
                <a:spcPts val="2600"/>
              </a:lnSpc>
              <a:spcAft>
                <a:spcPts val="800"/>
              </a:spcAft>
              <a:buSzPct val="100000"/>
              <a:buChar char="•"/>
            </a:pPr>
            <a:r>
              <a:rPr lang="en-US" sz="1450" dirty="0">
                <a:solidFill>
                  <a:srgbClr val="3A3733"/>
                </a:solidFill>
                <a:latin typeface="Calibri" pitchFamily="34" charset="0"/>
                <a:ea typeface="Calibri" pitchFamily="34" charset="-122"/>
                <a:cs typeface="Calibri" pitchFamily="34" charset="-120"/>
              </a:rPr>
              <a:t>Tessl: spec as the maintained source</a:t>
            </a:r>
            <a:endParaRPr lang="en-US" sz="1450" dirty="0"/>
          </a:p>
        </p:txBody>
      </p:sp>
      <p:sp>
        <p:nvSpPr>
          <p:cNvPr id="10" name="Text 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11" name="Text 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80</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2700000">
            <a:off x="502920" y="425196"/>
            <a:ext cx="118872" cy="118872"/>
          </a:xfrm>
          <a:prstGeom prst="rect">
            <a:avLst/>
          </a:prstGeom>
          <a:solidFill>
            <a:srgbClr val="B2542F"/>
          </a:solidFill>
          <a:ln/>
        </p:spPr>
        <p:txBody>
          <a:bodyPr/>
          <a:lstStyle/>
          <a:p>
            <a:endParaRPr lang="en-FI"/>
          </a:p>
        </p:txBody>
      </p:sp>
      <p:sp>
        <p:nvSpPr>
          <p:cNvPr id="3" name="Text 1"/>
          <p:cNvSpPr/>
          <p:nvPr/>
        </p:nvSpPr>
        <p:spPr>
          <a:xfrm>
            <a:off x="740664" y="329184"/>
            <a:ext cx="6858000" cy="292608"/>
          </a:xfrm>
          <a:prstGeom prst="rect">
            <a:avLst/>
          </a:prstGeom>
          <a:noFill/>
          <a:ln/>
        </p:spPr>
        <p:txBody>
          <a:bodyPr wrap="square" lIns="0" tIns="0" rIns="0" bIns="0" rtlCol="0" anchor="ctr"/>
          <a:lstStyle/>
          <a:p>
            <a:pPr marL="0" indent="0">
              <a:buNone/>
            </a:pPr>
            <a:r>
              <a:rPr lang="en-US" sz="1100" b="1" kern="0" spc="400" dirty="0">
                <a:solidFill>
                  <a:srgbClr val="8A847C"/>
                </a:solidFill>
                <a:latin typeface="Calibri" pitchFamily="34" charset="0"/>
                <a:ea typeface="Calibri" pitchFamily="34" charset="-122"/>
                <a:cs typeface="Calibri" pitchFamily="34" charset="-120"/>
              </a:rPr>
              <a:t>DECISION  ·  FOR TOPCON</a:t>
            </a:r>
            <a:endParaRPr lang="en-US" sz="1100" dirty="0"/>
          </a:p>
        </p:txBody>
      </p:sp>
      <p:sp>
        <p:nvSpPr>
          <p:cNvPr id="4" name="Text 2"/>
          <p:cNvSpPr/>
          <p:nvPr/>
        </p:nvSpPr>
        <p:spPr>
          <a:xfrm>
            <a:off x="502920" y="713232"/>
            <a:ext cx="8138160" cy="640080"/>
          </a:xfrm>
          <a:prstGeom prst="rect">
            <a:avLst/>
          </a:prstGeom>
          <a:noFill/>
          <a:ln/>
        </p:spPr>
        <p:txBody>
          <a:bodyPr wrap="square" lIns="0" tIns="0" rIns="0" bIns="0" rtlCol="0" anchor="ctr"/>
          <a:lstStyle/>
          <a:p>
            <a:pPr marL="0" indent="0">
              <a:buNone/>
            </a:pPr>
            <a:r>
              <a:rPr lang="en-US" sz="3000" dirty="0">
                <a:solidFill>
                  <a:srgbClr val="1A1A1A"/>
                </a:solidFill>
                <a:latin typeface="Cambria" pitchFamily="34" charset="0"/>
                <a:ea typeface="Cambria" pitchFamily="34" charset="-122"/>
                <a:cs typeface="Cambria" pitchFamily="34" charset="-120"/>
              </a:rPr>
              <a:t>A decision path for Topcon</a:t>
            </a:r>
            <a:endParaRPr lang="en-US" sz="3000" dirty="0"/>
          </a:p>
        </p:txBody>
      </p:sp>
      <p:sp>
        <p:nvSpPr>
          <p:cNvPr id="5" name="Shape 3"/>
          <p:cNvSpPr/>
          <p:nvPr/>
        </p:nvSpPr>
        <p:spPr>
          <a:xfrm>
            <a:off x="502920"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6" name="Shape 4"/>
          <p:cNvSpPr/>
          <p:nvPr/>
        </p:nvSpPr>
        <p:spPr>
          <a:xfrm>
            <a:off x="758952" y="1947672"/>
            <a:ext cx="457200" cy="457200"/>
          </a:xfrm>
          <a:prstGeom prst="ellipse">
            <a:avLst/>
          </a:prstGeom>
          <a:solidFill>
            <a:srgbClr val="1A1A1A"/>
          </a:solidFill>
          <a:ln/>
        </p:spPr>
        <p:txBody>
          <a:bodyPr/>
          <a:lstStyle/>
          <a:p>
            <a:endParaRPr lang="en-FI"/>
          </a:p>
        </p:txBody>
      </p:sp>
      <p:sp>
        <p:nvSpPr>
          <p:cNvPr id="7" name="Text 5"/>
          <p:cNvSpPr/>
          <p:nvPr/>
        </p:nvSpPr>
        <p:spPr>
          <a:xfrm>
            <a:off x="758952"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58952"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Start</a:t>
            </a:r>
            <a:endParaRPr lang="en-US" sz="1500" dirty="0"/>
          </a:p>
        </p:txBody>
      </p:sp>
      <p:sp>
        <p:nvSpPr>
          <p:cNvPr id="9" name="Text 7"/>
          <p:cNvSpPr/>
          <p:nvPr/>
        </p:nvSpPr>
        <p:spPr>
          <a:xfrm>
            <a:off x="758952"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Documentation and a simple spec habit</a:t>
            </a:r>
            <a:endParaRPr lang="en-US" sz="1200" dirty="0"/>
          </a:p>
        </p:txBody>
      </p:sp>
      <p:sp>
        <p:nvSpPr>
          <p:cNvPr id="10" name="Shape 8"/>
          <p:cNvSpPr/>
          <p:nvPr/>
        </p:nvSpPr>
        <p:spPr>
          <a:xfrm>
            <a:off x="3300984"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1" name="Shape 9"/>
          <p:cNvSpPr/>
          <p:nvPr/>
        </p:nvSpPr>
        <p:spPr>
          <a:xfrm>
            <a:off x="3557016" y="1947672"/>
            <a:ext cx="457200" cy="457200"/>
          </a:xfrm>
          <a:prstGeom prst="ellipse">
            <a:avLst/>
          </a:prstGeom>
          <a:solidFill>
            <a:srgbClr val="1A1A1A"/>
          </a:solidFill>
          <a:ln/>
        </p:spPr>
        <p:txBody>
          <a:bodyPr/>
          <a:lstStyle/>
          <a:p>
            <a:endParaRPr lang="en-FI"/>
          </a:p>
        </p:txBody>
      </p:sp>
      <p:sp>
        <p:nvSpPr>
          <p:cNvPr id="12" name="Text 10"/>
          <p:cNvSpPr/>
          <p:nvPr/>
        </p:nvSpPr>
        <p:spPr>
          <a:xfrm>
            <a:off x="3557016"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57016"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Pick</a:t>
            </a:r>
            <a:endParaRPr lang="en-US" sz="1500" dirty="0"/>
          </a:p>
        </p:txBody>
      </p:sp>
      <p:sp>
        <p:nvSpPr>
          <p:cNvPr id="14" name="Text 12"/>
          <p:cNvSpPr/>
          <p:nvPr/>
        </p:nvSpPr>
        <p:spPr>
          <a:xfrm>
            <a:off x="3557016"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One tool track and one pilot project</a:t>
            </a:r>
            <a:endParaRPr lang="en-US" sz="1200" dirty="0"/>
          </a:p>
        </p:txBody>
      </p:sp>
      <p:sp>
        <p:nvSpPr>
          <p:cNvPr id="15" name="Shape 13"/>
          <p:cNvSpPr/>
          <p:nvPr/>
        </p:nvSpPr>
        <p:spPr>
          <a:xfrm>
            <a:off x="6099048" y="1691640"/>
            <a:ext cx="2615184" cy="2468880"/>
          </a:xfrm>
          <a:prstGeom prst="roundRect">
            <a:avLst>
              <a:gd name="adj" fmla="val 2222"/>
            </a:avLst>
          </a:prstGeom>
          <a:solidFill>
            <a:srgbClr val="F4F2EE"/>
          </a:solidFill>
          <a:ln/>
          <a:effectLst>
            <a:outerShdw blurRad="101600" dist="38100" dir="5400000" algn="bl" rotWithShape="0">
              <a:srgbClr val="9A938B">
                <a:alpha val="25000"/>
              </a:srgbClr>
            </a:outerShdw>
          </a:effectLst>
        </p:spPr>
        <p:txBody>
          <a:bodyPr/>
          <a:lstStyle/>
          <a:p>
            <a:endParaRPr lang="en-FI"/>
          </a:p>
        </p:txBody>
      </p:sp>
      <p:sp>
        <p:nvSpPr>
          <p:cNvPr id="16" name="Shape 14"/>
          <p:cNvSpPr/>
          <p:nvPr/>
        </p:nvSpPr>
        <p:spPr>
          <a:xfrm>
            <a:off x="6355080" y="1947672"/>
            <a:ext cx="457200" cy="457200"/>
          </a:xfrm>
          <a:prstGeom prst="ellipse">
            <a:avLst/>
          </a:prstGeom>
          <a:solidFill>
            <a:srgbClr val="1A1A1A"/>
          </a:solidFill>
          <a:ln/>
        </p:spPr>
        <p:txBody>
          <a:bodyPr/>
          <a:lstStyle/>
          <a:p>
            <a:endParaRPr lang="en-FI"/>
          </a:p>
        </p:txBody>
      </p:sp>
      <p:sp>
        <p:nvSpPr>
          <p:cNvPr id="17" name="Text 15"/>
          <p:cNvSpPr/>
          <p:nvPr/>
        </p:nvSpPr>
        <p:spPr>
          <a:xfrm>
            <a:off x="6355080" y="194767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355080" y="2606040"/>
            <a:ext cx="2148840" cy="5029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Unlock</a:t>
            </a:r>
            <a:endParaRPr lang="en-US" sz="1500" dirty="0"/>
          </a:p>
        </p:txBody>
      </p:sp>
      <p:sp>
        <p:nvSpPr>
          <p:cNvPr id="19" name="Text 17"/>
          <p:cNvSpPr/>
          <p:nvPr/>
        </p:nvSpPr>
        <p:spPr>
          <a:xfrm>
            <a:off x="6355080" y="3108960"/>
            <a:ext cx="2148840" cy="868680"/>
          </a:xfrm>
          <a:prstGeom prst="rect">
            <a:avLst/>
          </a:prstGeom>
          <a:noFill/>
          <a:ln/>
        </p:spPr>
        <p:txBody>
          <a:bodyPr wrap="square" lIns="0" tIns="0" rIns="0" bIns="0" rtlCol="0" anchor="ctr"/>
          <a:lstStyle/>
          <a:p>
            <a:pPr marL="0" indent="0">
              <a:lnSpc>
                <a:spcPts val="1700"/>
              </a:lnSpc>
              <a:buNone/>
            </a:pPr>
            <a:r>
              <a:rPr lang="en-US" sz="1200" dirty="0">
                <a:solidFill>
                  <a:srgbClr val="8A847C"/>
                </a:solidFill>
                <a:latin typeface="Calibri" pitchFamily="34" charset="0"/>
                <a:ea typeface="Calibri" pitchFamily="34" charset="-122"/>
                <a:cs typeface="Calibri" pitchFamily="34" charset="-120"/>
              </a:rPr>
              <a:t>Let the process change unlock the rest</a:t>
            </a:r>
            <a:endParaRPr lang="en-US" sz="1200" dirty="0"/>
          </a:p>
        </p:txBody>
      </p:sp>
      <p:sp>
        <p:nvSpPr>
          <p:cNvPr id="20" name="Text 18"/>
          <p:cNvSpPr/>
          <p:nvPr/>
        </p:nvSpPr>
        <p:spPr>
          <a:xfrm>
            <a:off x="502920" y="4773168"/>
            <a:ext cx="4114800" cy="274320"/>
          </a:xfrm>
          <a:prstGeom prst="rect">
            <a:avLst/>
          </a:prstGeom>
          <a:noFill/>
          <a:ln/>
        </p:spPr>
        <p:txBody>
          <a:bodyPr wrap="square" lIns="0" tIns="0" rIns="0" bIns="0" rtlCol="0" anchor="ctr"/>
          <a:lstStyle/>
          <a:p>
            <a:pPr marL="0" indent="0">
              <a:buNone/>
            </a:pPr>
            <a:r>
              <a:rPr lang="en-US" sz="800" dirty="0">
                <a:solidFill>
                  <a:srgbClr val="B5AFA8"/>
                </a:solidFill>
                <a:latin typeface="Calibri" pitchFamily="34" charset="0"/>
                <a:ea typeface="Calibri" pitchFamily="34" charset="-122"/>
                <a:cs typeface="Calibri" pitchFamily="34" charset="-120"/>
              </a:rPr>
              <a:t>Black Belt Consulting  ×  AO Finland</a:t>
            </a:r>
            <a:endParaRPr lang="en-US" sz="800" dirty="0"/>
          </a:p>
        </p:txBody>
      </p:sp>
      <p:sp>
        <p:nvSpPr>
          <p:cNvPr id="21" name="Text 19"/>
          <p:cNvSpPr/>
          <p:nvPr/>
        </p:nvSpPr>
        <p:spPr>
          <a:xfrm>
            <a:off x="8229600" y="4773168"/>
            <a:ext cx="411480" cy="274320"/>
          </a:xfrm>
          <a:prstGeom prst="rect">
            <a:avLst/>
          </a:prstGeom>
          <a:noFill/>
          <a:ln/>
        </p:spPr>
        <p:txBody>
          <a:bodyPr wrap="square" lIns="0" tIns="0" rIns="0" bIns="0" rtlCol="0" anchor="ctr"/>
          <a:lstStyle/>
          <a:p>
            <a:pPr marL="0" indent="0" algn="r">
              <a:buNone/>
            </a:pPr>
            <a:r>
              <a:rPr lang="en-US" sz="800" dirty="0">
                <a:solidFill>
                  <a:srgbClr val="B5AFA8"/>
                </a:solidFill>
                <a:latin typeface="Calibri" pitchFamily="34" charset="0"/>
                <a:ea typeface="Calibri" pitchFamily="34" charset="-122"/>
                <a:cs typeface="Calibri" pitchFamily="34" charset="-120"/>
              </a:rPr>
              <a:t>81</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rot="2700000">
            <a:off x="502920" y="544068"/>
            <a:ext cx="118872" cy="118872"/>
          </a:xfrm>
          <a:prstGeom prst="rect">
            <a:avLst/>
          </a:prstGeom>
          <a:solidFill>
            <a:srgbClr val="B2542F"/>
          </a:solidFill>
          <a:ln/>
        </p:spPr>
        <p:txBody>
          <a:bodyPr/>
          <a:lstStyle/>
          <a:p>
            <a:endParaRPr lang="en-FI"/>
          </a:p>
        </p:txBody>
      </p:sp>
      <p:sp>
        <p:nvSpPr>
          <p:cNvPr id="3" name="Text 1"/>
          <p:cNvSpPr/>
          <p:nvPr/>
        </p:nvSpPr>
        <p:spPr>
          <a:xfrm>
            <a:off x="740664" y="448056"/>
            <a:ext cx="6858000" cy="292608"/>
          </a:xfrm>
          <a:prstGeom prst="rect">
            <a:avLst/>
          </a:prstGeom>
          <a:noFill/>
          <a:ln/>
        </p:spPr>
        <p:txBody>
          <a:bodyPr wrap="square" lIns="0" tIns="0" rIns="0" bIns="0" rtlCol="0" anchor="ctr"/>
          <a:lstStyle/>
          <a:p>
            <a:pPr marL="0" indent="0">
              <a:buNone/>
            </a:pPr>
            <a:r>
              <a:rPr lang="en-US" sz="1100" b="1" kern="0" spc="400" dirty="0">
                <a:solidFill>
                  <a:srgbClr val="CFC9C2"/>
                </a:solidFill>
                <a:latin typeface="Calibri" pitchFamily="34" charset="0"/>
                <a:ea typeface="Calibri" pitchFamily="34" charset="-122"/>
                <a:cs typeface="Calibri" pitchFamily="34" charset="-120"/>
              </a:rPr>
              <a:t>DAY 2  ·  WRAP-UP</a:t>
            </a:r>
            <a:endParaRPr lang="en-US" sz="1100" dirty="0"/>
          </a:p>
        </p:txBody>
      </p:sp>
      <p:sp>
        <p:nvSpPr>
          <p:cNvPr id="4" name="Text 2"/>
          <p:cNvSpPr/>
          <p:nvPr/>
        </p:nvSpPr>
        <p:spPr>
          <a:xfrm>
            <a:off x="502920" y="1554480"/>
            <a:ext cx="7315200" cy="1188720"/>
          </a:xfrm>
          <a:prstGeom prst="rect">
            <a:avLst/>
          </a:prstGeom>
          <a:noFill/>
          <a:ln/>
        </p:spPr>
        <p:txBody>
          <a:bodyPr wrap="square" lIns="0" tIns="0" rIns="0" bIns="0" rtlCol="0" anchor="ctr"/>
          <a:lstStyle/>
          <a:p>
            <a:pPr marL="0" indent="0">
              <a:buNone/>
            </a:pPr>
            <a:r>
              <a:rPr lang="en-US" sz="6000" dirty="0">
                <a:solidFill>
                  <a:srgbClr val="FFFFFF"/>
                </a:solidFill>
                <a:latin typeface="Cambria" pitchFamily="34" charset="0"/>
                <a:ea typeface="Cambria" pitchFamily="34" charset="-122"/>
                <a:cs typeface="Cambria" pitchFamily="34" charset="-120"/>
              </a:rPr>
              <a:t>Kiitos.</a:t>
            </a:r>
            <a:endParaRPr lang="en-US" sz="6000" dirty="0"/>
          </a:p>
        </p:txBody>
      </p:sp>
      <p:sp>
        <p:nvSpPr>
          <p:cNvPr id="5" name="Text 3"/>
          <p:cNvSpPr/>
          <p:nvPr/>
        </p:nvSpPr>
        <p:spPr>
          <a:xfrm>
            <a:off x="502920" y="2834640"/>
            <a:ext cx="6400800" cy="457200"/>
          </a:xfrm>
          <a:prstGeom prst="rect">
            <a:avLst/>
          </a:prstGeom>
          <a:noFill/>
          <a:ln/>
        </p:spPr>
        <p:txBody>
          <a:bodyPr wrap="square" lIns="0" tIns="0" rIns="0" bIns="0" rtlCol="0" anchor="ctr"/>
          <a:lstStyle/>
          <a:p>
            <a:pPr marL="0" indent="0">
              <a:buNone/>
            </a:pPr>
            <a:r>
              <a:rPr lang="en-US" sz="1600" dirty="0">
                <a:solidFill>
                  <a:srgbClr val="B2542F"/>
                </a:solidFill>
                <a:latin typeface="Calibri" pitchFamily="34" charset="0"/>
                <a:ea typeface="Calibri" pitchFamily="34" charset="-122"/>
                <a:cs typeface="Calibri" pitchFamily="34" charset="-120"/>
              </a:rPr>
              <a:t>Requirements to working, documented, compliance-checked code</a:t>
            </a:r>
            <a:endParaRPr lang="en-US" sz="1600" dirty="0"/>
          </a:p>
        </p:txBody>
      </p:sp>
      <p:sp>
        <p:nvSpPr>
          <p:cNvPr id="6" name="Text 4"/>
          <p:cNvSpPr/>
          <p:nvPr/>
        </p:nvSpPr>
        <p:spPr>
          <a:xfrm>
            <a:off x="502920" y="3657600"/>
            <a:ext cx="5943600" cy="640080"/>
          </a:xfrm>
          <a:prstGeom prst="rect">
            <a:avLst/>
          </a:prstGeom>
          <a:noFill/>
          <a:ln/>
        </p:spPr>
        <p:txBody>
          <a:bodyPr wrap="square" lIns="0" tIns="0" rIns="0" bIns="0" rtlCol="0" anchor="ctr"/>
          <a:lstStyle/>
          <a:p>
            <a:pPr marL="0" indent="0">
              <a:lnSpc>
                <a:spcPts val="2000"/>
              </a:lnSpc>
              <a:buNone/>
            </a:pPr>
            <a:r>
              <a:rPr lang="en-US" sz="1300" dirty="0">
                <a:solidFill>
                  <a:srgbClr val="CFC9C2"/>
                </a:solidFill>
                <a:latin typeface="Calibri" pitchFamily="34" charset="0"/>
                <a:ea typeface="Calibri" pitchFamily="34" charset="-122"/>
                <a:cs typeface="Calibri" pitchFamily="34" charset="-120"/>
              </a:rPr>
              <a:t>Tino Silfver  ·  Lead Agentic AI Architect</a:t>
            </a:r>
            <a:endParaRPr lang="en-US" sz="1300" dirty="0"/>
          </a:p>
          <a:p>
            <a:pPr marL="0" indent="0">
              <a:lnSpc>
                <a:spcPts val="2000"/>
              </a:lnSpc>
              <a:buNone/>
            </a:pPr>
            <a:r>
              <a:rPr lang="en-US" sz="1300" dirty="0">
                <a:solidFill>
                  <a:srgbClr val="CFC9C2"/>
                </a:solidFill>
                <a:latin typeface="Calibri" pitchFamily="34" charset="0"/>
                <a:ea typeface="Calibri" pitchFamily="34" charset="-122"/>
                <a:cs typeface="Calibri" pitchFamily="34" charset="-120"/>
              </a:rPr>
              <a:t>Jukka Loikkanen  ·  Microsoft MVP</a:t>
            </a:r>
            <a:endParaRPr lang="en-US" sz="1300" dirty="0"/>
          </a:p>
        </p:txBody>
      </p:sp>
      <p:sp>
        <p:nvSpPr>
          <p:cNvPr id="7" name="Shape 5"/>
          <p:cNvSpPr/>
          <p:nvPr/>
        </p:nvSpPr>
        <p:spPr>
          <a:xfrm rot="2700000">
            <a:off x="7818120" y="4069080"/>
            <a:ext cx="182880" cy="182880"/>
          </a:xfrm>
          <a:prstGeom prst="rect">
            <a:avLst/>
          </a:prstGeom>
          <a:solidFill>
            <a:srgbClr val="B2542F"/>
          </a:solidFill>
          <a:ln/>
        </p:spPr>
        <p:txBody>
          <a:bodyPr/>
          <a:lstStyle/>
          <a:p>
            <a:endParaRPr lang="en-FI"/>
          </a:p>
        </p:txBody>
      </p:sp>
      <p:sp>
        <p:nvSpPr>
          <p:cNvPr id="8" name="Shape 6"/>
          <p:cNvSpPr/>
          <p:nvPr/>
        </p:nvSpPr>
        <p:spPr>
          <a:xfrm rot="2700000">
            <a:off x="8183880" y="4297680"/>
            <a:ext cx="118872" cy="118872"/>
          </a:xfrm>
          <a:prstGeom prst="rect">
            <a:avLst/>
          </a:prstGeom>
          <a:solidFill>
            <a:srgbClr val="5A5550"/>
          </a:solidFill>
          <a:ln/>
        </p:spPr>
        <p:txBody>
          <a:bodyPr/>
          <a:lstStyle/>
          <a:p>
            <a:endParaRPr lang="en-FI"/>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8976</Words>
  <Application>Microsoft Office PowerPoint</Application>
  <PresentationFormat>On-screen Show (16:9)</PresentationFormat>
  <Paragraphs>842</Paragraphs>
  <Slides>83</Slides>
  <Notes>82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Software Development Training Template</dc:title>
  <dc:subject>PptxGenJS Presentation</dc:subject>
  <dc:creator>Black Belt Consulting</dc:creator>
  <cp:lastModifiedBy>Tino Silfver</cp:lastModifiedBy>
  <cp:revision>1</cp:revision>
  <dcterms:created xsi:type="dcterms:W3CDTF">2026-06-12T10:08:27Z</dcterms:created>
  <dcterms:modified xsi:type="dcterms:W3CDTF">2026-06-15T05:25:29Z</dcterms:modified>
</cp:coreProperties>
</file>